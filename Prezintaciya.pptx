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23"/>
  </p:notesMasterIdLst>
  <p:handoutMasterIdLst>
    <p:handoutMasterId r:id="rId24"/>
  </p:handoutMasterIdLst>
  <p:sldIdLst>
    <p:sldId id="692" r:id="rId2"/>
    <p:sldId id="693" r:id="rId3"/>
    <p:sldId id="694" r:id="rId4"/>
    <p:sldId id="651" r:id="rId5"/>
    <p:sldId id="726" r:id="rId6"/>
    <p:sldId id="744" r:id="rId7"/>
    <p:sldId id="745" r:id="rId8"/>
    <p:sldId id="746" r:id="rId9"/>
    <p:sldId id="727" r:id="rId10"/>
    <p:sldId id="747" r:id="rId11"/>
    <p:sldId id="748" r:id="rId12"/>
    <p:sldId id="728" r:id="rId13"/>
    <p:sldId id="749" r:id="rId14"/>
    <p:sldId id="750" r:id="rId15"/>
    <p:sldId id="751" r:id="rId16"/>
    <p:sldId id="739" r:id="rId17"/>
    <p:sldId id="754" r:id="rId18"/>
    <p:sldId id="755" r:id="rId19"/>
    <p:sldId id="743" r:id="rId20"/>
    <p:sldId id="690" r:id="rId21"/>
    <p:sldId id="691" r:id="rId22"/>
  </p:sldIdLst>
  <p:sldSz cx="10693400" cy="7561263"/>
  <p:notesSz cx="6669088" cy="9928225"/>
  <p:defaultTextStyle>
    <a:defPPr>
      <a:defRPr lang="ru-RU"/>
    </a:defPPr>
    <a:lvl1pPr marL="0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1528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43056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64584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086112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07640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29168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50696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172224" algn="l" defTabSz="104305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96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2531">
          <p15:clr>
            <a:srgbClr val="A4A3A4"/>
          </p15:clr>
        </p15:guide>
        <p15:guide id="4" pos="33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атя" initials="К" lastIdx="1" clrIdx="0">
    <p:extLst>
      <p:ext uri="{19B8F6BF-5375-455C-9EA6-DF929625EA0E}">
        <p15:presenceInfo xmlns:p15="http://schemas.microsoft.com/office/powerpoint/2012/main" userId="Катя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0000"/>
    <a:srgbClr val="99CCFF"/>
    <a:srgbClr val="052E81"/>
    <a:srgbClr val="0000CC"/>
    <a:srgbClr val="003399"/>
    <a:srgbClr val="0000FF"/>
    <a:srgbClr val="3333CC"/>
    <a:srgbClr val="EB0000"/>
    <a:srgbClr val="EB1E00"/>
    <a:srgbClr val="E51F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1EBBBCC-DAD2-459C-BE2E-F6DE35CF9A28}" styleName="Темный стиль 2 — акцент 3/акцент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20" autoAdjust="0"/>
    <p:restoredTop sz="96408" autoAdjust="0"/>
  </p:normalViewPr>
  <p:slideViewPr>
    <p:cSldViewPr showGuides="1">
      <p:cViewPr varScale="1">
        <p:scale>
          <a:sx n="71" d="100"/>
          <a:sy n="71" d="100"/>
        </p:scale>
        <p:origin x="1242" y="54"/>
      </p:cViewPr>
      <p:guideLst>
        <p:guide orient="horz" pos="2296"/>
        <p:guide pos="2880"/>
        <p:guide orient="horz" pos="2531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45" d="100"/>
          <a:sy n="45" d="100"/>
        </p:scale>
        <p:origin x="278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xmlns="" id="{671583C3-CA27-4496-BECA-C771D03A36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25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07987283-449F-49A3-9FA6-20B92A61CE8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778250" y="0"/>
            <a:ext cx="288925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3481F-6E72-4171-A9C8-98D56C39F96E}" type="datetimeFigureOut">
              <a:rPr lang="ru-RU" smtClean="0"/>
              <a:t>03.06.2026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5EB2E802-5847-4DA6-BAD8-A92EA4C57E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88925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07830C92-6658-426B-8F97-72EB78E0A89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778250" y="9429750"/>
            <a:ext cx="288925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1C4CA1-B95C-48CD-AB14-2CAA4305D9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3388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4E9510-8D81-4F7D-A3DD-ECD88FF9FF52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66788" y="1241425"/>
            <a:ext cx="47355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66909" y="4777958"/>
            <a:ext cx="533527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889938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777607" y="9430091"/>
            <a:ext cx="2889938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CA9037-5C04-413C-AFF2-1B3777C3E584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290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21528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43056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564584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086112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07640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129168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650696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172224" algn="l" defTabSz="104305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CA9037-5C04-413C-AFF2-1B3777C3E584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5209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xmlns="" id="{E52F706F-AFAA-4FA6-90FD-A6042EEAC4E3}"/>
              </a:ext>
            </a:extLst>
          </p:cNvPr>
          <p:cNvSpPr/>
          <p:nvPr userDrawn="1"/>
        </p:nvSpPr>
        <p:spPr>
          <a:xfrm>
            <a:off x="0" y="1954612"/>
            <a:ext cx="10693400" cy="405826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4306" tIns="52153" rIns="104306" bIns="52153"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xmlns="" id="{C358D1E9-CE0B-40E2-B7B4-0FA4354CB526}"/>
              </a:ext>
            </a:extLst>
          </p:cNvPr>
          <p:cNvSpPr/>
          <p:nvPr userDrawn="1"/>
        </p:nvSpPr>
        <p:spPr>
          <a:xfrm>
            <a:off x="0" y="3755251"/>
            <a:ext cx="151490" cy="133288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4306" tIns="52153" rIns="104306" bIns="52153" rtlCol="0" anchor="ctr"/>
          <a:lstStyle/>
          <a:p>
            <a:pPr algn="ctr"/>
            <a:endParaRPr lang="ru-RU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xmlns="" id="{811B1396-9D3B-4AEC-A3F5-32D25265EA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1784" y="3348583"/>
            <a:ext cx="9679452" cy="1915285"/>
          </a:xfrm>
        </p:spPr>
        <p:txBody>
          <a:bodyPr anchor="b">
            <a:normAutofit/>
          </a:bodyPr>
          <a:lstStyle>
            <a:lvl1pPr algn="ctr">
              <a:defRPr lang="ru-RU" sz="5500" b="1" kern="1200" dirty="0">
                <a:solidFill>
                  <a:schemeClr val="bg1"/>
                </a:solidFill>
                <a:latin typeface="Arial Black" panose="020B0A04020102020204" pitchFamily="34" charset="0"/>
                <a:ea typeface="+mn-ea"/>
                <a:cs typeface="+mn-cs"/>
              </a:defRPr>
            </a:lvl1pPr>
          </a:lstStyle>
          <a:p>
            <a:pPr marL="0" lvl="0" algn="l" defTabSz="1043056" rtl="0" eaLnBrk="1" latinLnBrk="0" hangingPunct="1">
              <a:defRPr/>
            </a:pPr>
            <a:r>
              <a:rPr lang="ru-RU" dirty="0"/>
              <a:t>ОБРАЗЕЦ ЗАГОЛОВКА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xmlns="" id="{EEDFA97E-57D3-4908-B503-1A4CD5FEDBA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474666" y="5386216"/>
            <a:ext cx="9768578" cy="453716"/>
          </a:xfrm>
        </p:spPr>
        <p:txBody>
          <a:bodyPr anchor="b">
            <a:normAutofit/>
          </a:bodyPr>
          <a:lstStyle>
            <a:lvl1pPr marL="87313" indent="0">
              <a:buNone/>
              <a:defRPr sz="23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" name="Группа 1"/>
          <p:cNvGrpSpPr/>
          <p:nvPr userDrawn="1"/>
        </p:nvGrpSpPr>
        <p:grpSpPr>
          <a:xfrm>
            <a:off x="64645" y="36215"/>
            <a:ext cx="2401735" cy="1883566"/>
            <a:chOff x="108831" y="-599499"/>
            <a:chExt cx="2520279" cy="1976534"/>
          </a:xfrm>
        </p:grpSpPr>
        <p:sp>
          <p:nvSpPr>
            <p:cNvPr id="10" name="Овал 9"/>
            <p:cNvSpPr/>
            <p:nvPr userDrawn="1"/>
          </p:nvSpPr>
          <p:spPr>
            <a:xfrm>
              <a:off x="234132" y="-565606"/>
              <a:ext cx="2269678" cy="1876450"/>
            </a:xfrm>
            <a:prstGeom prst="ellipse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" name="Рисунок 12"/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232B74"/>
                </a:clrFrom>
                <a:clrTo>
                  <a:srgbClr val="232B74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8831" y="-599499"/>
              <a:ext cx="2520279" cy="1976534"/>
            </a:xfrm>
            <a:prstGeom prst="rect">
              <a:avLst/>
            </a:prstGeom>
          </p:spPr>
        </p:pic>
      </p:grpSp>
      <p:sp>
        <p:nvSpPr>
          <p:cNvPr id="3" name="Полилиния 2"/>
          <p:cNvSpPr/>
          <p:nvPr userDrawn="1"/>
        </p:nvSpPr>
        <p:spPr>
          <a:xfrm>
            <a:off x="9451156" y="6588943"/>
            <a:ext cx="1167102" cy="909328"/>
          </a:xfrm>
          <a:custGeom>
            <a:avLst/>
            <a:gdLst>
              <a:gd name="connsiteX0" fmla="*/ 8938 w 1599150"/>
              <a:gd name="connsiteY0" fmla="*/ 604853 h 1197360"/>
              <a:gd name="connsiteX1" fmla="*/ 1593898 w 1599150"/>
              <a:gd name="connsiteY1" fmla="*/ 10493 h 1197360"/>
              <a:gd name="connsiteX2" fmla="*/ 534718 w 1599150"/>
              <a:gd name="connsiteY2" fmla="*/ 1191593 h 1197360"/>
              <a:gd name="connsiteX3" fmla="*/ 930958 w 1599150"/>
              <a:gd name="connsiteY3" fmla="*/ 467693 h 1197360"/>
              <a:gd name="connsiteX4" fmla="*/ 8938 w 1599150"/>
              <a:gd name="connsiteY4" fmla="*/ 604853 h 119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9150" h="1197360">
                <a:moveTo>
                  <a:pt x="8938" y="604853"/>
                </a:moveTo>
                <a:cubicBezTo>
                  <a:pt x="119428" y="528653"/>
                  <a:pt x="1506268" y="-87297"/>
                  <a:pt x="1593898" y="10493"/>
                </a:cubicBezTo>
                <a:cubicBezTo>
                  <a:pt x="1681528" y="108283"/>
                  <a:pt x="645208" y="1115393"/>
                  <a:pt x="534718" y="1191593"/>
                </a:cubicBezTo>
                <a:cubicBezTo>
                  <a:pt x="424228" y="1267793"/>
                  <a:pt x="1014778" y="565483"/>
                  <a:pt x="930958" y="467693"/>
                </a:cubicBezTo>
                <a:cubicBezTo>
                  <a:pt x="847138" y="369903"/>
                  <a:pt x="-101552" y="681053"/>
                  <a:pt x="8938" y="604853"/>
                </a:cubicBezTo>
                <a:close/>
              </a:path>
            </a:pathLst>
          </a:custGeom>
          <a:solidFill>
            <a:srgbClr val="E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0521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xmlns="" id="{A3C1DD5A-7DBA-4220-B8D8-20048D0ABCE3}"/>
              </a:ext>
            </a:extLst>
          </p:cNvPr>
          <p:cNvSpPr/>
          <p:nvPr userDrawn="1"/>
        </p:nvSpPr>
        <p:spPr>
          <a:xfrm>
            <a:off x="0" y="1795828"/>
            <a:ext cx="10693400" cy="4793115"/>
          </a:xfrm>
          <a:prstGeom prst="rect">
            <a:avLst/>
          </a:prstGeom>
          <a:solidFill>
            <a:srgbClr val="99CCFF">
              <a:alpha val="1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4306" tIns="52153" rIns="104306" bIns="52153" rtlCol="0" anchor="ctr"/>
          <a:lstStyle/>
          <a:p>
            <a:pPr algn="ctr"/>
            <a:endParaRPr lang="ru-RU"/>
          </a:p>
        </p:txBody>
      </p:sp>
      <p:sp>
        <p:nvSpPr>
          <p:cNvPr id="6" name="Номер слайда 3">
            <a:extLst>
              <a:ext uri="{FF2B5EF4-FFF2-40B4-BE49-F238E27FC236}">
                <a16:creationId xmlns:a16="http://schemas.microsoft.com/office/drawing/2014/main" xmlns="" id="{0A0A2E56-80E9-457C-85A2-379B7F01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5286" y="6950712"/>
            <a:ext cx="1935669" cy="402567"/>
          </a:xfrm>
          <a:prstGeom prst="rect">
            <a:avLst/>
          </a:prstGeom>
        </p:spPr>
        <p:txBody>
          <a:bodyPr/>
          <a:lstStyle/>
          <a:p>
            <a:pPr algn="l"/>
            <a:fld id="{725C68B6-61C2-468F-89AB-4B9F7531AA68}" type="slidenum">
              <a:rPr lang="ru-RU" smtClean="0"/>
              <a:pPr algn="l"/>
              <a:t>‹#›</a:t>
            </a:fld>
            <a:endParaRPr lang="ru-RU"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xmlns="" id="{15130363-D71A-4697-B9E0-FBA487FC8CD2}"/>
              </a:ext>
            </a:extLst>
          </p:cNvPr>
          <p:cNvSpPr/>
          <p:nvPr userDrawn="1"/>
        </p:nvSpPr>
        <p:spPr>
          <a:xfrm>
            <a:off x="0" y="218297"/>
            <a:ext cx="125720" cy="1255702"/>
          </a:xfrm>
          <a:custGeom>
            <a:avLst/>
            <a:gdLst/>
            <a:ahLst/>
            <a:cxnLst/>
            <a:rect l="l" t="t" r="r" b="b"/>
            <a:pathLst>
              <a:path w="81280" h="1144905">
                <a:moveTo>
                  <a:pt x="0" y="1144803"/>
                </a:moveTo>
                <a:lnTo>
                  <a:pt x="81000" y="1144803"/>
                </a:lnTo>
                <a:lnTo>
                  <a:pt x="81000" y="0"/>
                </a:lnTo>
                <a:lnTo>
                  <a:pt x="0" y="0"/>
                </a:lnTo>
                <a:lnTo>
                  <a:pt x="0" y="1144803"/>
                </a:lnTo>
                <a:close/>
              </a:path>
            </a:pathLst>
          </a:custGeom>
          <a:solidFill>
            <a:srgbClr val="EE31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xmlns="" id="{FCBA8602-5369-476D-B67C-4D459E2AD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673" y="561291"/>
            <a:ext cx="9687193" cy="56784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ru-RU" sz="4100" b="1">
                <a:solidFill>
                  <a:srgbClr val="E60000"/>
                </a:solidFill>
                <a:latin typeface="Arial Black" panose="020B0A04020102020204" pitchFamily="34" charset="0"/>
              </a:defRPr>
            </a:lvl1pPr>
          </a:lstStyle>
          <a:p>
            <a:pPr marL="0" lvl="0" defTabSz="914400"/>
            <a:r>
              <a:rPr lang="ru-RU" dirty="0"/>
              <a:t>ОБРАЗЕЦ ЗАГОЛОВКА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xmlns="" id="{73CB2135-A489-4E6B-8FED-92D74838E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963" y="2919243"/>
            <a:ext cx="9824904" cy="3488816"/>
          </a:xfrm>
        </p:spPr>
        <p:txBody>
          <a:bodyPr/>
          <a:lstStyle>
            <a:lvl1pPr marL="271463" indent="-271463"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xmlns="" id="{EA6920BC-95BA-4EE0-B6B9-ABDFC2E139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394963" y="2124447"/>
            <a:ext cx="9824904" cy="421490"/>
          </a:xfrm>
        </p:spPr>
        <p:txBody>
          <a:bodyPr anchor="b">
            <a:normAutofit/>
          </a:bodyPr>
          <a:lstStyle>
            <a:lvl1pPr marL="87313" indent="0">
              <a:buNone/>
              <a:defRPr sz="1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Полилиния 8"/>
          <p:cNvSpPr/>
          <p:nvPr userDrawn="1"/>
        </p:nvSpPr>
        <p:spPr>
          <a:xfrm>
            <a:off x="9499310" y="6637967"/>
            <a:ext cx="1167102" cy="909328"/>
          </a:xfrm>
          <a:custGeom>
            <a:avLst/>
            <a:gdLst>
              <a:gd name="connsiteX0" fmla="*/ 8938 w 1599150"/>
              <a:gd name="connsiteY0" fmla="*/ 604853 h 1197360"/>
              <a:gd name="connsiteX1" fmla="*/ 1593898 w 1599150"/>
              <a:gd name="connsiteY1" fmla="*/ 10493 h 1197360"/>
              <a:gd name="connsiteX2" fmla="*/ 534718 w 1599150"/>
              <a:gd name="connsiteY2" fmla="*/ 1191593 h 1197360"/>
              <a:gd name="connsiteX3" fmla="*/ 930958 w 1599150"/>
              <a:gd name="connsiteY3" fmla="*/ 467693 h 1197360"/>
              <a:gd name="connsiteX4" fmla="*/ 8938 w 1599150"/>
              <a:gd name="connsiteY4" fmla="*/ 604853 h 119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9150" h="1197360">
                <a:moveTo>
                  <a:pt x="8938" y="604853"/>
                </a:moveTo>
                <a:cubicBezTo>
                  <a:pt x="119428" y="528653"/>
                  <a:pt x="1506268" y="-87297"/>
                  <a:pt x="1593898" y="10493"/>
                </a:cubicBezTo>
                <a:cubicBezTo>
                  <a:pt x="1681528" y="108283"/>
                  <a:pt x="645208" y="1115393"/>
                  <a:pt x="534718" y="1191593"/>
                </a:cubicBezTo>
                <a:cubicBezTo>
                  <a:pt x="424228" y="1267793"/>
                  <a:pt x="1014778" y="565483"/>
                  <a:pt x="930958" y="467693"/>
                </a:cubicBezTo>
                <a:cubicBezTo>
                  <a:pt x="847138" y="369903"/>
                  <a:pt x="-101552" y="681053"/>
                  <a:pt x="8938" y="604853"/>
                </a:cubicBezTo>
                <a:close/>
              </a:path>
            </a:pathLst>
          </a:custGeom>
          <a:solidFill>
            <a:srgbClr val="E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323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3">
            <a:extLst>
              <a:ext uri="{FF2B5EF4-FFF2-40B4-BE49-F238E27FC236}">
                <a16:creationId xmlns:a16="http://schemas.microsoft.com/office/drawing/2014/main" xmlns="" id="{0A0A2E56-80E9-457C-85A2-379B7F01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5286" y="6950712"/>
            <a:ext cx="1935669" cy="402567"/>
          </a:xfrm>
          <a:prstGeom prst="rect">
            <a:avLst/>
          </a:prstGeom>
        </p:spPr>
        <p:txBody>
          <a:bodyPr/>
          <a:lstStyle/>
          <a:p>
            <a:pPr algn="l"/>
            <a:fld id="{725C68B6-61C2-468F-89AB-4B9F7531AA68}" type="slidenum">
              <a:rPr lang="ru-RU" smtClean="0"/>
              <a:pPr algn="l"/>
              <a:t>‹#›</a:t>
            </a:fld>
            <a:endParaRPr lang="ru-RU"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xmlns="" id="{15130363-D71A-4697-B9E0-FBA487FC8CD2}"/>
              </a:ext>
            </a:extLst>
          </p:cNvPr>
          <p:cNvSpPr/>
          <p:nvPr userDrawn="1"/>
        </p:nvSpPr>
        <p:spPr>
          <a:xfrm>
            <a:off x="0" y="218297"/>
            <a:ext cx="125720" cy="1255702"/>
          </a:xfrm>
          <a:custGeom>
            <a:avLst/>
            <a:gdLst/>
            <a:ahLst/>
            <a:cxnLst/>
            <a:rect l="l" t="t" r="r" b="b"/>
            <a:pathLst>
              <a:path w="81280" h="1144905">
                <a:moveTo>
                  <a:pt x="0" y="1144803"/>
                </a:moveTo>
                <a:lnTo>
                  <a:pt x="81000" y="1144803"/>
                </a:lnTo>
                <a:lnTo>
                  <a:pt x="81000" y="0"/>
                </a:lnTo>
                <a:lnTo>
                  <a:pt x="0" y="0"/>
                </a:lnTo>
                <a:lnTo>
                  <a:pt x="0" y="1144803"/>
                </a:lnTo>
                <a:close/>
              </a:path>
            </a:pathLst>
          </a:custGeom>
          <a:solidFill>
            <a:srgbClr val="EE31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Заголовок 1">
            <a:extLst>
              <a:ext uri="{FF2B5EF4-FFF2-40B4-BE49-F238E27FC236}">
                <a16:creationId xmlns:a16="http://schemas.microsoft.com/office/drawing/2014/main" xmlns="" id="{FCBA8602-5369-476D-B67C-4D459E2AD0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673" y="561291"/>
            <a:ext cx="9687193" cy="56784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ru-RU" sz="4100" b="1">
                <a:solidFill>
                  <a:srgbClr val="E60000"/>
                </a:solidFill>
                <a:latin typeface="Arial Black" panose="020B0A04020102020204" pitchFamily="34" charset="0"/>
              </a:defRPr>
            </a:lvl1pPr>
          </a:lstStyle>
          <a:p>
            <a:pPr marL="0" lvl="0" defTabSz="914400"/>
            <a:r>
              <a:rPr lang="ru-RU" dirty="0"/>
              <a:t>ОБРАЗЕЦ ЗАГОЛОВКА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xmlns="" id="{73CB2135-A489-4E6B-8FED-92D74838E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963" y="2700511"/>
            <a:ext cx="9824904" cy="3707548"/>
          </a:xfrm>
        </p:spPr>
        <p:txBody>
          <a:bodyPr/>
          <a:lstStyle>
            <a:lvl1pPr marL="271463" indent="-271463"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xmlns="" id="{EA6920BC-95BA-4EE0-B6B9-ABDFC2E139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394963" y="2124447"/>
            <a:ext cx="9824904" cy="421490"/>
          </a:xfrm>
        </p:spPr>
        <p:txBody>
          <a:bodyPr anchor="b">
            <a:normAutofit/>
          </a:bodyPr>
          <a:lstStyle>
            <a:lvl1pPr marL="87313" indent="0">
              <a:buNone/>
              <a:defRPr sz="1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8" name="Полилиния 7"/>
          <p:cNvSpPr/>
          <p:nvPr userDrawn="1"/>
        </p:nvSpPr>
        <p:spPr>
          <a:xfrm>
            <a:off x="9451156" y="6588943"/>
            <a:ext cx="1167102" cy="909328"/>
          </a:xfrm>
          <a:custGeom>
            <a:avLst/>
            <a:gdLst>
              <a:gd name="connsiteX0" fmla="*/ 8938 w 1599150"/>
              <a:gd name="connsiteY0" fmla="*/ 604853 h 1197360"/>
              <a:gd name="connsiteX1" fmla="*/ 1593898 w 1599150"/>
              <a:gd name="connsiteY1" fmla="*/ 10493 h 1197360"/>
              <a:gd name="connsiteX2" fmla="*/ 534718 w 1599150"/>
              <a:gd name="connsiteY2" fmla="*/ 1191593 h 1197360"/>
              <a:gd name="connsiteX3" fmla="*/ 930958 w 1599150"/>
              <a:gd name="connsiteY3" fmla="*/ 467693 h 1197360"/>
              <a:gd name="connsiteX4" fmla="*/ 8938 w 1599150"/>
              <a:gd name="connsiteY4" fmla="*/ 604853 h 119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9150" h="1197360">
                <a:moveTo>
                  <a:pt x="8938" y="604853"/>
                </a:moveTo>
                <a:cubicBezTo>
                  <a:pt x="119428" y="528653"/>
                  <a:pt x="1506268" y="-87297"/>
                  <a:pt x="1593898" y="10493"/>
                </a:cubicBezTo>
                <a:cubicBezTo>
                  <a:pt x="1681528" y="108283"/>
                  <a:pt x="645208" y="1115393"/>
                  <a:pt x="534718" y="1191593"/>
                </a:cubicBezTo>
                <a:cubicBezTo>
                  <a:pt x="424228" y="1267793"/>
                  <a:pt x="1014778" y="565483"/>
                  <a:pt x="930958" y="467693"/>
                </a:cubicBezTo>
                <a:cubicBezTo>
                  <a:pt x="847138" y="369903"/>
                  <a:pt x="-101552" y="681053"/>
                  <a:pt x="8938" y="604853"/>
                </a:cubicBezTo>
                <a:close/>
              </a:path>
            </a:pathLst>
          </a:custGeom>
          <a:solidFill>
            <a:srgbClr val="E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1116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3">
            <a:extLst>
              <a:ext uri="{FF2B5EF4-FFF2-40B4-BE49-F238E27FC236}">
                <a16:creationId xmlns:a16="http://schemas.microsoft.com/office/drawing/2014/main" xmlns="" id="{0A0A2E56-80E9-457C-85A2-379B7F01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5286" y="6950712"/>
            <a:ext cx="1935669" cy="402567"/>
          </a:xfrm>
          <a:prstGeom prst="rect">
            <a:avLst/>
          </a:prstGeom>
        </p:spPr>
        <p:txBody>
          <a:bodyPr/>
          <a:lstStyle/>
          <a:p>
            <a:pPr algn="l"/>
            <a:fld id="{725C68B6-61C2-468F-89AB-4B9F7531AA68}" type="slidenum">
              <a:rPr lang="ru-RU" smtClean="0"/>
              <a:pPr algn="l"/>
              <a:t>‹#›</a:t>
            </a:fld>
            <a:endParaRPr lang="ru-RU"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xmlns="" id="{15130363-D71A-4697-B9E0-FBA487FC8CD2}"/>
              </a:ext>
            </a:extLst>
          </p:cNvPr>
          <p:cNvSpPr/>
          <p:nvPr userDrawn="1"/>
        </p:nvSpPr>
        <p:spPr>
          <a:xfrm>
            <a:off x="0" y="218297"/>
            <a:ext cx="125720" cy="1255702"/>
          </a:xfrm>
          <a:custGeom>
            <a:avLst/>
            <a:gdLst/>
            <a:ahLst/>
            <a:cxnLst/>
            <a:rect l="l" t="t" r="r" b="b"/>
            <a:pathLst>
              <a:path w="81280" h="1144905">
                <a:moveTo>
                  <a:pt x="0" y="1144803"/>
                </a:moveTo>
                <a:lnTo>
                  <a:pt x="81000" y="1144803"/>
                </a:lnTo>
                <a:lnTo>
                  <a:pt x="81000" y="0"/>
                </a:lnTo>
                <a:lnTo>
                  <a:pt x="0" y="0"/>
                </a:lnTo>
                <a:lnTo>
                  <a:pt x="0" y="1144803"/>
                </a:lnTo>
                <a:close/>
              </a:path>
            </a:pathLst>
          </a:custGeom>
          <a:solidFill>
            <a:srgbClr val="EE31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Заголовок 1">
            <a:extLst>
              <a:ext uri="{FF2B5EF4-FFF2-40B4-BE49-F238E27FC236}">
                <a16:creationId xmlns:a16="http://schemas.microsoft.com/office/drawing/2014/main" xmlns="" id="{92BB8558-F0D2-4EE4-AD81-BEA8F8628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673" y="561291"/>
            <a:ext cx="9687193" cy="56784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ru-RU" sz="4100" b="1">
                <a:solidFill>
                  <a:srgbClr val="E60000"/>
                </a:solidFill>
                <a:latin typeface="Arial Black" panose="020B0A04020102020204" pitchFamily="34" charset="0"/>
              </a:defRPr>
            </a:lvl1pPr>
          </a:lstStyle>
          <a:p>
            <a:pPr marL="0" lvl="0" defTabSz="914400"/>
            <a:r>
              <a:rPr lang="ru-RU" dirty="0"/>
              <a:t>ОБРАЗЕЦ ЗАГОЛОВКА</a:t>
            </a: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xmlns="" id="{5C6B6E1A-7427-4160-A1D6-036AF3FE4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962" y="2141571"/>
            <a:ext cx="9824905" cy="4424697"/>
          </a:xfrm>
        </p:spPr>
        <p:txBody>
          <a:bodyPr/>
          <a:lstStyle>
            <a:lvl1pPr marL="271463" indent="-271463"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7" name="Полилиния 6"/>
          <p:cNvSpPr/>
          <p:nvPr userDrawn="1"/>
        </p:nvSpPr>
        <p:spPr>
          <a:xfrm>
            <a:off x="9451156" y="6588943"/>
            <a:ext cx="1167102" cy="909328"/>
          </a:xfrm>
          <a:custGeom>
            <a:avLst/>
            <a:gdLst>
              <a:gd name="connsiteX0" fmla="*/ 8938 w 1599150"/>
              <a:gd name="connsiteY0" fmla="*/ 604853 h 1197360"/>
              <a:gd name="connsiteX1" fmla="*/ 1593898 w 1599150"/>
              <a:gd name="connsiteY1" fmla="*/ 10493 h 1197360"/>
              <a:gd name="connsiteX2" fmla="*/ 534718 w 1599150"/>
              <a:gd name="connsiteY2" fmla="*/ 1191593 h 1197360"/>
              <a:gd name="connsiteX3" fmla="*/ 930958 w 1599150"/>
              <a:gd name="connsiteY3" fmla="*/ 467693 h 1197360"/>
              <a:gd name="connsiteX4" fmla="*/ 8938 w 1599150"/>
              <a:gd name="connsiteY4" fmla="*/ 604853 h 119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9150" h="1197360">
                <a:moveTo>
                  <a:pt x="8938" y="604853"/>
                </a:moveTo>
                <a:cubicBezTo>
                  <a:pt x="119428" y="528653"/>
                  <a:pt x="1506268" y="-87297"/>
                  <a:pt x="1593898" y="10493"/>
                </a:cubicBezTo>
                <a:cubicBezTo>
                  <a:pt x="1681528" y="108283"/>
                  <a:pt x="645208" y="1115393"/>
                  <a:pt x="534718" y="1191593"/>
                </a:cubicBezTo>
                <a:cubicBezTo>
                  <a:pt x="424228" y="1267793"/>
                  <a:pt x="1014778" y="565483"/>
                  <a:pt x="930958" y="467693"/>
                </a:cubicBezTo>
                <a:cubicBezTo>
                  <a:pt x="847138" y="369903"/>
                  <a:pt x="-101552" y="681053"/>
                  <a:pt x="8938" y="604853"/>
                </a:cubicBezTo>
                <a:close/>
              </a:path>
            </a:pathLst>
          </a:custGeom>
          <a:solidFill>
            <a:srgbClr val="E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3520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3">
            <a:extLst>
              <a:ext uri="{FF2B5EF4-FFF2-40B4-BE49-F238E27FC236}">
                <a16:creationId xmlns:a16="http://schemas.microsoft.com/office/drawing/2014/main" xmlns="" id="{0A0A2E56-80E9-457C-85A2-379B7F01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5286" y="6950712"/>
            <a:ext cx="1935669" cy="402567"/>
          </a:xfrm>
          <a:prstGeom prst="rect">
            <a:avLst/>
          </a:prstGeom>
        </p:spPr>
        <p:txBody>
          <a:bodyPr/>
          <a:lstStyle/>
          <a:p>
            <a:pPr algn="l"/>
            <a:fld id="{725C68B6-61C2-468F-89AB-4B9F7531AA68}" type="slidenum">
              <a:rPr lang="ru-RU" smtClean="0"/>
              <a:pPr algn="l"/>
              <a:t>‹#›</a:t>
            </a:fld>
            <a:endParaRPr lang="ru-RU"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xmlns="" id="{15130363-D71A-4697-B9E0-FBA487FC8CD2}"/>
              </a:ext>
            </a:extLst>
          </p:cNvPr>
          <p:cNvSpPr/>
          <p:nvPr userDrawn="1"/>
        </p:nvSpPr>
        <p:spPr>
          <a:xfrm>
            <a:off x="0" y="218297"/>
            <a:ext cx="125720" cy="1255702"/>
          </a:xfrm>
          <a:custGeom>
            <a:avLst/>
            <a:gdLst/>
            <a:ahLst/>
            <a:cxnLst/>
            <a:rect l="l" t="t" r="r" b="b"/>
            <a:pathLst>
              <a:path w="81280" h="1144905">
                <a:moveTo>
                  <a:pt x="0" y="1144803"/>
                </a:moveTo>
                <a:lnTo>
                  <a:pt x="81000" y="1144803"/>
                </a:lnTo>
                <a:lnTo>
                  <a:pt x="81000" y="0"/>
                </a:lnTo>
                <a:lnTo>
                  <a:pt x="0" y="0"/>
                </a:lnTo>
                <a:lnTo>
                  <a:pt x="0" y="1144803"/>
                </a:lnTo>
                <a:close/>
              </a:path>
            </a:pathLst>
          </a:custGeom>
          <a:solidFill>
            <a:srgbClr val="EE31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xmlns="" id="{73CB2135-A489-4E6B-8FED-92D74838E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212" y="3559861"/>
            <a:ext cx="3154337" cy="3006407"/>
          </a:xfrm>
        </p:spPr>
        <p:txBody>
          <a:bodyPr/>
          <a:lstStyle>
            <a:lvl1pPr marL="271463" indent="-271463"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xmlns="" id="{EA6920BC-95BA-4EE0-B6B9-ABDFC2E139F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324212" y="2141571"/>
            <a:ext cx="3154337" cy="1276490"/>
          </a:xfrm>
        </p:spPr>
        <p:txBody>
          <a:bodyPr anchor="b">
            <a:normAutofit/>
          </a:bodyPr>
          <a:lstStyle>
            <a:lvl1pPr marL="87313" indent="0">
              <a:buNone/>
              <a:defRPr sz="1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4" name="Объект 2">
            <a:extLst>
              <a:ext uri="{FF2B5EF4-FFF2-40B4-BE49-F238E27FC236}">
                <a16:creationId xmlns:a16="http://schemas.microsoft.com/office/drawing/2014/main" xmlns="" id="{A4523AE8-D259-411C-A6A2-3CD2D16943E6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741209" y="3559861"/>
            <a:ext cx="3154337" cy="3006407"/>
          </a:xfrm>
        </p:spPr>
        <p:txBody>
          <a:bodyPr/>
          <a:lstStyle>
            <a:lvl1pPr marL="271463" indent="-271463"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35" name="Текст 2">
            <a:extLst>
              <a:ext uri="{FF2B5EF4-FFF2-40B4-BE49-F238E27FC236}">
                <a16:creationId xmlns:a16="http://schemas.microsoft.com/office/drawing/2014/main" xmlns="" id="{2C6B67E9-E51A-4189-9E6F-B8FBB553E1F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741209" y="2141571"/>
            <a:ext cx="3154337" cy="1276490"/>
          </a:xfrm>
        </p:spPr>
        <p:txBody>
          <a:bodyPr anchor="b">
            <a:normAutofit/>
          </a:bodyPr>
          <a:lstStyle>
            <a:lvl1pPr marL="87313" indent="0">
              <a:buNone/>
              <a:defRPr sz="1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6" name="Объект 2">
            <a:extLst>
              <a:ext uri="{FF2B5EF4-FFF2-40B4-BE49-F238E27FC236}">
                <a16:creationId xmlns:a16="http://schemas.microsoft.com/office/drawing/2014/main" xmlns="" id="{D9E4D091-F7FD-4BCB-B863-BE189268567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7158207" y="3559861"/>
            <a:ext cx="3154337" cy="3006407"/>
          </a:xfrm>
        </p:spPr>
        <p:txBody>
          <a:bodyPr/>
          <a:lstStyle>
            <a:lvl1pPr marL="271463" indent="-271463"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37" name="Текст 2">
            <a:extLst>
              <a:ext uri="{FF2B5EF4-FFF2-40B4-BE49-F238E27FC236}">
                <a16:creationId xmlns:a16="http://schemas.microsoft.com/office/drawing/2014/main" xmlns="" id="{27AE658B-019B-4257-BC1E-5402C16CD9CF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7158207" y="2141571"/>
            <a:ext cx="3154337" cy="1276490"/>
          </a:xfrm>
        </p:spPr>
        <p:txBody>
          <a:bodyPr anchor="b">
            <a:normAutofit/>
          </a:bodyPr>
          <a:lstStyle>
            <a:lvl1pPr marL="87313" indent="0">
              <a:buNone/>
              <a:defRPr sz="18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8" name="Заголовок 1">
            <a:extLst>
              <a:ext uri="{FF2B5EF4-FFF2-40B4-BE49-F238E27FC236}">
                <a16:creationId xmlns:a16="http://schemas.microsoft.com/office/drawing/2014/main" xmlns="" id="{92BB8558-F0D2-4EE4-AD81-BEA8F86281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2674" y="561291"/>
            <a:ext cx="9779870" cy="56784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ru-RU" sz="4100" b="1">
                <a:solidFill>
                  <a:srgbClr val="E60000"/>
                </a:solidFill>
                <a:latin typeface="Arial Black" panose="020B0A04020102020204" pitchFamily="34" charset="0"/>
              </a:defRPr>
            </a:lvl1pPr>
          </a:lstStyle>
          <a:p>
            <a:pPr marL="0" lvl="0" defTabSz="914400"/>
            <a:r>
              <a:rPr lang="ru-RU" dirty="0"/>
              <a:t>ОБРАЗЕЦ ЗАГОЛОВКА</a:t>
            </a:r>
          </a:p>
        </p:txBody>
      </p:sp>
      <p:sp>
        <p:nvSpPr>
          <p:cNvPr id="12" name="Полилиния 11"/>
          <p:cNvSpPr/>
          <p:nvPr userDrawn="1"/>
        </p:nvSpPr>
        <p:spPr>
          <a:xfrm>
            <a:off x="9451156" y="6588943"/>
            <a:ext cx="1167102" cy="909328"/>
          </a:xfrm>
          <a:custGeom>
            <a:avLst/>
            <a:gdLst>
              <a:gd name="connsiteX0" fmla="*/ 8938 w 1599150"/>
              <a:gd name="connsiteY0" fmla="*/ 604853 h 1197360"/>
              <a:gd name="connsiteX1" fmla="*/ 1593898 w 1599150"/>
              <a:gd name="connsiteY1" fmla="*/ 10493 h 1197360"/>
              <a:gd name="connsiteX2" fmla="*/ 534718 w 1599150"/>
              <a:gd name="connsiteY2" fmla="*/ 1191593 h 1197360"/>
              <a:gd name="connsiteX3" fmla="*/ 930958 w 1599150"/>
              <a:gd name="connsiteY3" fmla="*/ 467693 h 1197360"/>
              <a:gd name="connsiteX4" fmla="*/ 8938 w 1599150"/>
              <a:gd name="connsiteY4" fmla="*/ 604853 h 119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9150" h="1197360">
                <a:moveTo>
                  <a:pt x="8938" y="604853"/>
                </a:moveTo>
                <a:cubicBezTo>
                  <a:pt x="119428" y="528653"/>
                  <a:pt x="1506268" y="-87297"/>
                  <a:pt x="1593898" y="10493"/>
                </a:cubicBezTo>
                <a:cubicBezTo>
                  <a:pt x="1681528" y="108283"/>
                  <a:pt x="645208" y="1115393"/>
                  <a:pt x="534718" y="1191593"/>
                </a:cubicBezTo>
                <a:cubicBezTo>
                  <a:pt x="424228" y="1267793"/>
                  <a:pt x="1014778" y="565483"/>
                  <a:pt x="930958" y="467693"/>
                </a:cubicBezTo>
                <a:cubicBezTo>
                  <a:pt x="847138" y="369903"/>
                  <a:pt x="-101552" y="681053"/>
                  <a:pt x="8938" y="604853"/>
                </a:cubicBezTo>
                <a:close/>
              </a:path>
            </a:pathLst>
          </a:custGeom>
          <a:solidFill>
            <a:srgbClr val="E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5259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xmlns="" id="{EB9B11F2-6547-4B66-9341-F3EB5FC81BDB}"/>
              </a:ext>
            </a:extLst>
          </p:cNvPr>
          <p:cNvSpPr/>
          <p:nvPr userDrawn="1"/>
        </p:nvSpPr>
        <p:spPr>
          <a:xfrm>
            <a:off x="7759261" y="2470407"/>
            <a:ext cx="2359400" cy="40903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4306" tIns="52153" rIns="104306" bIns="52153" rtlCol="0" anchor="ctr"/>
          <a:lstStyle/>
          <a:p>
            <a:pPr algn="ctr"/>
            <a:endParaRPr lang="ru-RU"/>
          </a:p>
        </p:txBody>
      </p:sp>
      <p:sp>
        <p:nvSpPr>
          <p:cNvPr id="6" name="Номер слайда 3">
            <a:extLst>
              <a:ext uri="{FF2B5EF4-FFF2-40B4-BE49-F238E27FC236}">
                <a16:creationId xmlns:a16="http://schemas.microsoft.com/office/drawing/2014/main" xmlns="" id="{0A0A2E56-80E9-457C-85A2-379B7F01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5286" y="6950712"/>
            <a:ext cx="1935669" cy="402567"/>
          </a:xfrm>
          <a:prstGeom prst="rect">
            <a:avLst/>
          </a:prstGeom>
        </p:spPr>
        <p:txBody>
          <a:bodyPr/>
          <a:lstStyle/>
          <a:p>
            <a:pPr algn="l"/>
            <a:fld id="{725C68B6-61C2-468F-89AB-4B9F7531AA68}" type="slidenum">
              <a:rPr lang="ru-RU" smtClean="0"/>
              <a:pPr algn="l"/>
              <a:t>‹#›</a:t>
            </a:fld>
            <a:endParaRPr lang="ru-RU" dirty="0"/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xmlns="" id="{15130363-D71A-4697-B9E0-FBA487FC8CD2}"/>
              </a:ext>
            </a:extLst>
          </p:cNvPr>
          <p:cNvSpPr/>
          <p:nvPr userDrawn="1"/>
        </p:nvSpPr>
        <p:spPr>
          <a:xfrm>
            <a:off x="0" y="218297"/>
            <a:ext cx="125720" cy="1255702"/>
          </a:xfrm>
          <a:custGeom>
            <a:avLst/>
            <a:gdLst/>
            <a:ahLst/>
            <a:cxnLst/>
            <a:rect l="l" t="t" r="r" b="b"/>
            <a:pathLst>
              <a:path w="81280" h="1144905">
                <a:moveTo>
                  <a:pt x="0" y="1144803"/>
                </a:moveTo>
                <a:lnTo>
                  <a:pt x="81000" y="1144803"/>
                </a:lnTo>
                <a:lnTo>
                  <a:pt x="81000" y="0"/>
                </a:lnTo>
                <a:lnTo>
                  <a:pt x="0" y="0"/>
                </a:lnTo>
                <a:lnTo>
                  <a:pt x="0" y="1144803"/>
                </a:lnTo>
                <a:close/>
              </a:path>
            </a:pathLst>
          </a:custGeom>
          <a:solidFill>
            <a:srgbClr val="EE31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3">
            <a:extLst>
              <a:ext uri="{FF2B5EF4-FFF2-40B4-BE49-F238E27FC236}">
                <a16:creationId xmlns:a16="http://schemas.microsoft.com/office/drawing/2014/main" xmlns="" id="{4C967A7A-8161-4185-84CA-97E80FC9B322}"/>
              </a:ext>
            </a:extLst>
          </p:cNvPr>
          <p:cNvSpPr/>
          <p:nvPr userDrawn="1"/>
        </p:nvSpPr>
        <p:spPr>
          <a:xfrm>
            <a:off x="7222" y="252239"/>
            <a:ext cx="125720" cy="1815708"/>
          </a:xfrm>
          <a:custGeom>
            <a:avLst/>
            <a:gdLst/>
            <a:ahLst/>
            <a:cxnLst/>
            <a:rect l="l" t="t" r="r" b="b"/>
            <a:pathLst>
              <a:path w="81280" h="1144905">
                <a:moveTo>
                  <a:pt x="0" y="1144803"/>
                </a:moveTo>
                <a:lnTo>
                  <a:pt x="81000" y="1144803"/>
                </a:lnTo>
                <a:lnTo>
                  <a:pt x="81000" y="0"/>
                </a:lnTo>
                <a:lnTo>
                  <a:pt x="0" y="0"/>
                </a:lnTo>
                <a:lnTo>
                  <a:pt x="0" y="1144803"/>
                </a:lnTo>
                <a:close/>
              </a:path>
            </a:pathLst>
          </a:custGeom>
          <a:solidFill>
            <a:srgbClr val="EE31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Заголовок 1">
            <a:extLst>
              <a:ext uri="{FF2B5EF4-FFF2-40B4-BE49-F238E27FC236}">
                <a16:creationId xmlns:a16="http://schemas.microsoft.com/office/drawing/2014/main" xmlns="" id="{BDCE2DE8-E62B-4A34-8FC0-6B605B6B6D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355" y="1133896"/>
            <a:ext cx="9499375" cy="56784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ru-RU" sz="4100" b="1">
                <a:solidFill>
                  <a:srgbClr val="E60000"/>
                </a:solidFill>
                <a:latin typeface="Arial Black" panose="020B0A04020102020204" pitchFamily="34" charset="0"/>
              </a:defRPr>
            </a:lvl1pPr>
          </a:lstStyle>
          <a:p>
            <a:pPr marL="0" lvl="0" defTabSz="914400"/>
            <a:r>
              <a:rPr lang="ru-RU" dirty="0"/>
              <a:t>ОБРАЗЕЦ ЗАГОЛОВКА</a:t>
            </a:r>
          </a:p>
        </p:txBody>
      </p:sp>
      <p:sp>
        <p:nvSpPr>
          <p:cNvPr id="31" name="Текст 2">
            <a:extLst>
              <a:ext uri="{FF2B5EF4-FFF2-40B4-BE49-F238E27FC236}">
                <a16:creationId xmlns:a16="http://schemas.microsoft.com/office/drawing/2014/main" xmlns="" id="{2B0BFA9E-BDB0-415B-8B27-5B6AB1518DB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562355" y="489910"/>
            <a:ext cx="9499375" cy="276999"/>
          </a:xfrm>
        </p:spPr>
        <p:txBody>
          <a:bodyPr vert="horz" wrap="square" lIns="0" tIns="0" rIns="0" bIns="0" rtlCol="0" anchor="ctr">
            <a:spAutoFit/>
          </a:bodyPr>
          <a:lstStyle>
            <a:lvl1pPr>
              <a:defRPr lang="ru-RU" sz="2000" b="1" dirty="0">
                <a:solidFill>
                  <a:srgbClr val="E60000"/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pPr marL="0" lvl="0" defTabSz="914400">
              <a:spcBef>
                <a:spcPct val="0"/>
              </a:spcBef>
              <a:buNone/>
            </a:pPr>
            <a:r>
              <a:rPr lang="ru-RU" dirty="0"/>
              <a:t>ОБРАЗЕЦ ТЕКСТА</a:t>
            </a:r>
          </a:p>
        </p:txBody>
      </p:sp>
      <p:sp>
        <p:nvSpPr>
          <p:cNvPr id="42" name="Объект 2">
            <a:extLst>
              <a:ext uri="{FF2B5EF4-FFF2-40B4-BE49-F238E27FC236}">
                <a16:creationId xmlns:a16="http://schemas.microsoft.com/office/drawing/2014/main" xmlns="" id="{DDA1D208-AC82-41CD-AC19-AA520B2C2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691" y="5058739"/>
            <a:ext cx="2304000" cy="1502061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3" name="Объект 2">
            <a:extLst>
              <a:ext uri="{FF2B5EF4-FFF2-40B4-BE49-F238E27FC236}">
                <a16:creationId xmlns:a16="http://schemas.microsoft.com/office/drawing/2014/main" xmlns="" id="{2CB3BD24-831A-4664-875C-E9C7FB7F8C36}"/>
              </a:ext>
            </a:extLst>
          </p:cNvPr>
          <p:cNvSpPr>
            <a:spLocks noGrp="1"/>
          </p:cNvSpPr>
          <p:nvPr>
            <p:ph idx="21"/>
          </p:nvPr>
        </p:nvSpPr>
        <p:spPr>
          <a:xfrm>
            <a:off x="3017334" y="5058739"/>
            <a:ext cx="2304000" cy="1502061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4" name="Объект 2">
            <a:extLst>
              <a:ext uri="{FF2B5EF4-FFF2-40B4-BE49-F238E27FC236}">
                <a16:creationId xmlns:a16="http://schemas.microsoft.com/office/drawing/2014/main" xmlns="" id="{F8D3A8DA-DE38-47DD-9DD4-6DEB7240F645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5388977" y="5058739"/>
            <a:ext cx="2304000" cy="1502061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xmlns="" id="{EE8C385B-C208-4106-8613-8BC5223A3F5C}"/>
              </a:ext>
            </a:extLst>
          </p:cNvPr>
          <p:cNvSpPr/>
          <p:nvPr userDrawn="1"/>
        </p:nvSpPr>
        <p:spPr>
          <a:xfrm>
            <a:off x="648087" y="4846672"/>
            <a:ext cx="7043531" cy="516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4306" tIns="52153" rIns="104306" bIns="52153" rtlCol="0" anchor="ctr"/>
          <a:lstStyle/>
          <a:p>
            <a:pPr algn="ctr"/>
            <a:endParaRPr lang="ru-RU"/>
          </a:p>
        </p:txBody>
      </p:sp>
      <p:sp>
        <p:nvSpPr>
          <p:cNvPr id="52" name="Текст 2">
            <a:extLst>
              <a:ext uri="{FF2B5EF4-FFF2-40B4-BE49-F238E27FC236}">
                <a16:creationId xmlns:a16="http://schemas.microsoft.com/office/drawing/2014/main" xmlns="" id="{7CEAFFC1-C332-47C7-9CFE-8FE0B3FD0457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7757731" y="2484487"/>
            <a:ext cx="2304000" cy="292598"/>
          </a:xfrm>
        </p:spPr>
        <p:txBody>
          <a:bodyPr anchor="b">
            <a:normAutofit/>
          </a:bodyPr>
          <a:lstStyle>
            <a:lvl1pPr marL="0" indent="0" algn="l">
              <a:buNone/>
              <a:defRPr sz="1400" b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4" name="Объект 2">
            <a:extLst>
              <a:ext uri="{FF2B5EF4-FFF2-40B4-BE49-F238E27FC236}">
                <a16:creationId xmlns:a16="http://schemas.microsoft.com/office/drawing/2014/main" xmlns="" id="{BDB58731-0025-45AA-B7E6-AE93EE2F2764}"/>
              </a:ext>
            </a:extLst>
          </p:cNvPr>
          <p:cNvSpPr>
            <a:spLocks noGrp="1"/>
          </p:cNvSpPr>
          <p:nvPr>
            <p:ph idx="24"/>
          </p:nvPr>
        </p:nvSpPr>
        <p:spPr>
          <a:xfrm>
            <a:off x="7759260" y="2945191"/>
            <a:ext cx="2311011" cy="3462867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8" name="Объект 2">
            <a:extLst>
              <a:ext uri="{FF2B5EF4-FFF2-40B4-BE49-F238E27FC236}">
                <a16:creationId xmlns:a16="http://schemas.microsoft.com/office/drawing/2014/main" xmlns="" id="{E9331FB5-268A-4AC3-A50C-029CFF37D9C2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665571" y="2470407"/>
            <a:ext cx="2304000" cy="237626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59" name="Объект 2">
            <a:extLst>
              <a:ext uri="{FF2B5EF4-FFF2-40B4-BE49-F238E27FC236}">
                <a16:creationId xmlns:a16="http://schemas.microsoft.com/office/drawing/2014/main" xmlns="" id="{073B8669-4C3C-4E00-85DA-6D255EE3B472}"/>
              </a:ext>
            </a:extLst>
          </p:cNvPr>
          <p:cNvSpPr>
            <a:spLocks noGrp="1"/>
          </p:cNvSpPr>
          <p:nvPr>
            <p:ph idx="26"/>
          </p:nvPr>
        </p:nvSpPr>
        <p:spPr>
          <a:xfrm>
            <a:off x="3037214" y="2470407"/>
            <a:ext cx="2304000" cy="237626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60" name="Объект 2">
            <a:extLst>
              <a:ext uri="{FF2B5EF4-FFF2-40B4-BE49-F238E27FC236}">
                <a16:creationId xmlns:a16="http://schemas.microsoft.com/office/drawing/2014/main" xmlns="" id="{6D28D3A1-3506-42DA-8E0C-5D900B154BFB}"/>
              </a:ext>
            </a:extLst>
          </p:cNvPr>
          <p:cNvSpPr>
            <a:spLocks noGrp="1"/>
          </p:cNvSpPr>
          <p:nvPr>
            <p:ph idx="27"/>
          </p:nvPr>
        </p:nvSpPr>
        <p:spPr>
          <a:xfrm>
            <a:off x="5408857" y="2470407"/>
            <a:ext cx="2304000" cy="237626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391146" indent="0">
              <a:buFontTx/>
              <a:buNone/>
              <a:defRPr sz="1600"/>
            </a:lvl2pPr>
            <a:lvl3pPr marL="782292" indent="0">
              <a:buFontTx/>
              <a:buNone/>
              <a:defRPr sz="1600"/>
            </a:lvl3pPr>
            <a:lvl4pPr marL="1173438" indent="0">
              <a:buFontTx/>
              <a:buNone/>
              <a:defRPr sz="1600"/>
            </a:lvl4pPr>
            <a:lvl5pPr marL="1564584" indent="0">
              <a:buFontTx/>
              <a:buNone/>
              <a:defRPr sz="16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Полилиния 18"/>
          <p:cNvSpPr/>
          <p:nvPr userDrawn="1"/>
        </p:nvSpPr>
        <p:spPr>
          <a:xfrm>
            <a:off x="9451156" y="6588943"/>
            <a:ext cx="1167102" cy="909328"/>
          </a:xfrm>
          <a:custGeom>
            <a:avLst/>
            <a:gdLst>
              <a:gd name="connsiteX0" fmla="*/ 8938 w 1599150"/>
              <a:gd name="connsiteY0" fmla="*/ 604853 h 1197360"/>
              <a:gd name="connsiteX1" fmla="*/ 1593898 w 1599150"/>
              <a:gd name="connsiteY1" fmla="*/ 10493 h 1197360"/>
              <a:gd name="connsiteX2" fmla="*/ 534718 w 1599150"/>
              <a:gd name="connsiteY2" fmla="*/ 1191593 h 1197360"/>
              <a:gd name="connsiteX3" fmla="*/ 930958 w 1599150"/>
              <a:gd name="connsiteY3" fmla="*/ 467693 h 1197360"/>
              <a:gd name="connsiteX4" fmla="*/ 8938 w 1599150"/>
              <a:gd name="connsiteY4" fmla="*/ 604853 h 1197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9150" h="1197360">
                <a:moveTo>
                  <a:pt x="8938" y="604853"/>
                </a:moveTo>
                <a:cubicBezTo>
                  <a:pt x="119428" y="528653"/>
                  <a:pt x="1506268" y="-87297"/>
                  <a:pt x="1593898" y="10493"/>
                </a:cubicBezTo>
                <a:cubicBezTo>
                  <a:pt x="1681528" y="108283"/>
                  <a:pt x="645208" y="1115393"/>
                  <a:pt x="534718" y="1191593"/>
                </a:cubicBezTo>
                <a:cubicBezTo>
                  <a:pt x="424228" y="1267793"/>
                  <a:pt x="1014778" y="565483"/>
                  <a:pt x="930958" y="467693"/>
                </a:cubicBezTo>
                <a:cubicBezTo>
                  <a:pt x="847138" y="369903"/>
                  <a:pt x="-101552" y="681053"/>
                  <a:pt x="8938" y="604853"/>
                </a:cubicBezTo>
                <a:close/>
              </a:path>
            </a:pathLst>
          </a:custGeom>
          <a:solidFill>
            <a:srgbClr val="E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439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36675" y="1237457"/>
            <a:ext cx="8020050" cy="2632440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36675" y="3971414"/>
            <a:ext cx="8020050" cy="1825554"/>
          </a:xfrm>
        </p:spPr>
        <p:txBody>
          <a:bodyPr/>
          <a:lstStyle>
            <a:lvl1pPr marL="0" indent="0" algn="ctr">
              <a:buNone/>
              <a:defRPr sz="2100"/>
            </a:lvl1pPr>
            <a:lvl2pPr marL="391146" indent="0" algn="ctr">
              <a:buNone/>
              <a:defRPr sz="1700"/>
            </a:lvl2pPr>
            <a:lvl3pPr marL="782292" indent="0" algn="ctr">
              <a:buNone/>
              <a:defRPr sz="1500"/>
            </a:lvl3pPr>
            <a:lvl4pPr marL="1173438" indent="0" algn="ctr">
              <a:buNone/>
              <a:defRPr sz="1400"/>
            </a:lvl4pPr>
            <a:lvl5pPr marL="1564584" indent="0" algn="ctr">
              <a:buNone/>
              <a:defRPr sz="1400"/>
            </a:lvl5pPr>
            <a:lvl6pPr marL="1955730" indent="0" algn="ctr">
              <a:buNone/>
              <a:defRPr sz="1400"/>
            </a:lvl6pPr>
            <a:lvl7pPr marL="2346876" indent="0" algn="ctr">
              <a:buNone/>
              <a:defRPr sz="1400"/>
            </a:lvl7pPr>
            <a:lvl8pPr marL="2738022" indent="0" algn="ctr">
              <a:buNone/>
              <a:defRPr sz="1400"/>
            </a:lvl8pPr>
            <a:lvl9pPr marL="3129168" indent="0" algn="ctr">
              <a:buNone/>
              <a:defRPr sz="14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48121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2051" name="Picture 3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5265" y="280935"/>
            <a:ext cx="1512396" cy="277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57451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9602" y="1885067"/>
            <a:ext cx="9223058" cy="3145275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9602" y="5060097"/>
            <a:ext cx="9223058" cy="1654026"/>
          </a:xfrm>
        </p:spPr>
        <p:txBody>
          <a:bodyPr/>
          <a:lstStyle>
            <a:lvl1pPr marL="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1pPr>
            <a:lvl2pPr marL="391146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82292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3pPr>
            <a:lvl4pPr marL="117343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56458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195573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34687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273802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1291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06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735171" y="2012836"/>
            <a:ext cx="4544695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5413534" y="2012836"/>
            <a:ext cx="4544695" cy="47975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3850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36564" y="402569"/>
            <a:ext cx="9223058" cy="146149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36565" y="1853560"/>
            <a:ext cx="4523809" cy="908401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736565" y="2761961"/>
            <a:ext cx="4523809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413534" y="1853560"/>
            <a:ext cx="4546088" cy="908401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391146" indent="0">
              <a:buNone/>
              <a:defRPr sz="1700" b="1"/>
            </a:lvl2pPr>
            <a:lvl3pPr marL="782292" indent="0">
              <a:buNone/>
              <a:defRPr sz="1500" b="1"/>
            </a:lvl3pPr>
            <a:lvl4pPr marL="1173438" indent="0">
              <a:buNone/>
              <a:defRPr sz="1400" b="1"/>
            </a:lvl4pPr>
            <a:lvl5pPr marL="1564584" indent="0">
              <a:buNone/>
              <a:defRPr sz="1400" b="1"/>
            </a:lvl5pPr>
            <a:lvl6pPr marL="1955730" indent="0">
              <a:buNone/>
              <a:defRPr sz="1400" b="1"/>
            </a:lvl6pPr>
            <a:lvl7pPr marL="2346876" indent="0">
              <a:buNone/>
              <a:defRPr sz="1400" b="1"/>
            </a:lvl7pPr>
            <a:lvl8pPr marL="2738022" indent="0">
              <a:buNone/>
              <a:defRPr sz="1400" b="1"/>
            </a:lvl8pPr>
            <a:lvl9pPr marL="3129168" indent="0">
              <a:buNone/>
              <a:defRPr sz="14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413534" y="2761961"/>
            <a:ext cx="4546088" cy="406242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7364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52048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27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400"/>
            </a:lvl1pPr>
            <a:lvl2pPr marL="391146" indent="0">
              <a:buNone/>
              <a:defRPr sz="1200"/>
            </a:lvl2pPr>
            <a:lvl3pPr marL="782292" indent="0">
              <a:buNone/>
              <a:defRPr sz="1000"/>
            </a:lvl3pPr>
            <a:lvl4pPr marL="1173438" indent="0">
              <a:buNone/>
              <a:defRPr sz="900"/>
            </a:lvl4pPr>
            <a:lvl5pPr marL="1564584" indent="0">
              <a:buNone/>
              <a:defRPr sz="900"/>
            </a:lvl5pPr>
            <a:lvl6pPr marL="1955730" indent="0">
              <a:buNone/>
              <a:defRPr sz="900"/>
            </a:lvl6pPr>
            <a:lvl7pPr marL="2346876" indent="0">
              <a:buNone/>
              <a:defRPr sz="900"/>
            </a:lvl7pPr>
            <a:lvl8pPr marL="2738022" indent="0">
              <a:buNone/>
              <a:defRPr sz="900"/>
            </a:lvl8pPr>
            <a:lvl9pPr marL="3129168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1410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27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 marL="0" indent="0">
              <a:buNone/>
              <a:defRPr sz="2700"/>
            </a:lvl1pPr>
            <a:lvl2pPr marL="391146" indent="0">
              <a:buNone/>
              <a:defRPr sz="2400"/>
            </a:lvl2pPr>
            <a:lvl3pPr marL="782292" indent="0">
              <a:buNone/>
              <a:defRPr sz="2100"/>
            </a:lvl3pPr>
            <a:lvl4pPr marL="1173438" indent="0">
              <a:buNone/>
              <a:defRPr sz="1700"/>
            </a:lvl4pPr>
            <a:lvl5pPr marL="1564584" indent="0">
              <a:buNone/>
              <a:defRPr sz="1700"/>
            </a:lvl5pPr>
            <a:lvl6pPr marL="1955730" indent="0">
              <a:buNone/>
              <a:defRPr sz="1700"/>
            </a:lvl6pPr>
            <a:lvl7pPr marL="2346876" indent="0">
              <a:buNone/>
              <a:defRPr sz="1700"/>
            </a:lvl7pPr>
            <a:lvl8pPr marL="2738022" indent="0">
              <a:buNone/>
              <a:defRPr sz="1700"/>
            </a:lvl8pPr>
            <a:lvl9pPr marL="3129168" indent="0">
              <a:buNone/>
              <a:defRPr sz="17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400"/>
            </a:lvl1pPr>
            <a:lvl2pPr marL="391146" indent="0">
              <a:buNone/>
              <a:defRPr sz="1200"/>
            </a:lvl2pPr>
            <a:lvl3pPr marL="782292" indent="0">
              <a:buNone/>
              <a:defRPr sz="1000"/>
            </a:lvl3pPr>
            <a:lvl4pPr marL="1173438" indent="0">
              <a:buNone/>
              <a:defRPr sz="900"/>
            </a:lvl4pPr>
            <a:lvl5pPr marL="1564584" indent="0">
              <a:buNone/>
              <a:defRPr sz="900"/>
            </a:lvl5pPr>
            <a:lvl6pPr marL="1955730" indent="0">
              <a:buNone/>
              <a:defRPr sz="900"/>
            </a:lvl6pPr>
            <a:lvl7pPr marL="2346876" indent="0">
              <a:buNone/>
              <a:defRPr sz="900"/>
            </a:lvl7pPr>
            <a:lvl8pPr marL="2738022" indent="0">
              <a:buNone/>
              <a:defRPr sz="900"/>
            </a:lvl8pPr>
            <a:lvl9pPr marL="3129168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1765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45505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7652465" y="402567"/>
            <a:ext cx="2305764" cy="64078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735172" y="402567"/>
            <a:ext cx="6783626" cy="6407821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93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35171" y="402569"/>
            <a:ext cx="9223058" cy="1461495"/>
          </a:xfrm>
          <a:prstGeom prst="rect">
            <a:avLst/>
          </a:prstGeom>
        </p:spPr>
        <p:txBody>
          <a:bodyPr vert="horz" lIns="104306" tIns="52153" rIns="104306" bIns="52153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35171" y="2012836"/>
            <a:ext cx="9223058" cy="4797552"/>
          </a:xfrm>
          <a:prstGeom prst="rect">
            <a:avLst/>
          </a:prstGeom>
        </p:spPr>
        <p:txBody>
          <a:bodyPr vert="horz" lIns="104306" tIns="52153" rIns="104306" bIns="52153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735171" y="7008172"/>
            <a:ext cx="2406015" cy="402567"/>
          </a:xfrm>
          <a:prstGeom prst="rect">
            <a:avLst/>
          </a:prstGeom>
        </p:spPr>
        <p:txBody>
          <a:bodyPr vert="horz" lIns="104306" tIns="52153" rIns="104306" bIns="52153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B0CA2-EE7C-4F21-BC99-1B7BC45BB5BA}" type="datetimeFigureOut">
              <a:rPr lang="ru-RU" smtClean="0"/>
              <a:pPr/>
              <a:t>03.06.2026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542189" y="7008172"/>
            <a:ext cx="3609023" cy="402567"/>
          </a:xfrm>
          <a:prstGeom prst="rect">
            <a:avLst/>
          </a:prstGeom>
        </p:spPr>
        <p:txBody>
          <a:bodyPr vert="horz" lIns="104306" tIns="52153" rIns="104306" bIns="52153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7552214" y="7008172"/>
            <a:ext cx="2406015" cy="402567"/>
          </a:xfrm>
          <a:prstGeom prst="rect">
            <a:avLst/>
          </a:prstGeom>
        </p:spPr>
        <p:txBody>
          <a:bodyPr vert="horz" lIns="104306" tIns="52153" rIns="104306" bIns="52153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AB95CB-C0AE-4384-84F4-5E78CCE15AA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932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19" r:id="rId2"/>
    <p:sldLayoutId id="2147483739" r:id="rId3"/>
    <p:sldLayoutId id="2147483736" r:id="rId4"/>
    <p:sldLayoutId id="2147483738" r:id="rId5"/>
    <p:sldLayoutId id="2147483737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20" r:id="rId13"/>
    <p:sldLayoutId id="2147483721" r:id="rId14"/>
    <p:sldLayoutId id="2147483722" r:id="rId15"/>
    <p:sldLayoutId id="2147483723" r:id="rId16"/>
  </p:sldLayoutIdLst>
  <p:txStyles>
    <p:titleStyle>
      <a:lvl1pPr algn="l" defTabSz="782292" rtl="0" eaLnBrk="1" latinLnBrk="0" hangingPunct="1">
        <a:lnSpc>
          <a:spcPct val="90000"/>
        </a:lnSpc>
        <a:spcBef>
          <a:spcPct val="0"/>
        </a:spcBef>
        <a:buNone/>
        <a:defRPr sz="3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5573" indent="-195573" algn="l" defTabSz="782292" rtl="0" eaLnBrk="1" latinLnBrk="0" hangingPunct="1">
        <a:lnSpc>
          <a:spcPct val="90000"/>
        </a:lnSpc>
        <a:spcBef>
          <a:spcPts val="856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86719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77865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011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60157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151303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542449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933595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324741" indent="-195573" algn="l" defTabSz="782292" rtl="0" eaLnBrk="1" latinLnBrk="0" hangingPunct="1">
        <a:lnSpc>
          <a:spcPct val="90000"/>
        </a:lnSpc>
        <a:spcBef>
          <a:spcPts val="428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91146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82292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73438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64584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55730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346876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38022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129168" algn="l" defTabSz="782292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ru-ru/dotnet/desktop/winforms/" TargetMode="External"/><Relationship Id="rId2" Type="http://schemas.openxmlformats.org/officeDocument/2006/relationships/hyperlink" Target="https://kemz.r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github.com/ru" TargetMode="External"/><Relationship Id="rId4" Type="http://schemas.openxmlformats.org/officeDocument/2006/relationships/hyperlink" Target="https://www.newtonsoft.com/js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65AEBF47-2662-48D1-B238-FBEE452D2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7533" y="4572719"/>
            <a:ext cx="9679452" cy="1915285"/>
          </a:xfrm>
        </p:spPr>
        <p:txBody>
          <a:bodyPr>
            <a:normAutofit fontScale="90000"/>
          </a:bodyPr>
          <a:lstStyle/>
          <a:p>
            <a:r>
              <a:rPr lang="ru-RU" sz="2100" dirty="0" smtClean="0"/>
              <a:t/>
            </a:r>
            <a:br>
              <a:rPr lang="ru-RU" sz="2100" dirty="0" smtClean="0"/>
            </a:br>
            <a:r>
              <a:rPr lang="ru-RU" sz="2100" dirty="0" smtClean="0"/>
              <a:t/>
            </a:r>
            <a:br>
              <a:rPr lang="ru-RU" sz="2100" dirty="0" smtClean="0"/>
            </a:br>
            <a:r>
              <a:rPr lang="ru-RU" sz="2100" dirty="0" smtClean="0"/>
              <a:t/>
            </a:r>
            <a:br>
              <a:rPr lang="ru-RU" sz="2100" dirty="0" smtClean="0"/>
            </a:br>
            <a:r>
              <a:rPr lang="ru-RU" sz="2100" dirty="0" smtClean="0"/>
              <a:t>ОТЧЕТ </a:t>
            </a:r>
            <a:br>
              <a:rPr lang="ru-RU" sz="2100" dirty="0" smtClean="0"/>
            </a:br>
            <a:r>
              <a:rPr lang="ru-RU" sz="2100" dirty="0" smtClean="0"/>
              <a:t>о прохождении производственной практики</a:t>
            </a:r>
            <a:br>
              <a:rPr lang="ru-RU" sz="2100" dirty="0" smtClean="0"/>
            </a:br>
            <a:r>
              <a:rPr lang="ru-RU" sz="2100" dirty="0" smtClean="0"/>
              <a:t> </a:t>
            </a:r>
            <a:br>
              <a:rPr lang="ru-RU" sz="2100" dirty="0" smtClean="0"/>
            </a:br>
            <a:r>
              <a:rPr lang="ru-RU" sz="2100" dirty="0" smtClean="0"/>
              <a:t>по профессиональному модулю ПМ.01 Разработка программных модулей программного обеспечения компьютерных систем</a:t>
            </a:r>
            <a:r>
              <a:rPr lang="ru-RU" sz="2400" dirty="0" smtClean="0"/>
              <a:t/>
            </a:r>
            <a:br>
              <a:rPr lang="ru-RU" sz="2400" dirty="0" smtClean="0"/>
            </a:br>
            <a:r>
              <a:rPr lang="en-US" sz="2100" dirty="0" smtClean="0"/>
              <a:t/>
            </a:r>
            <a:br>
              <a:rPr lang="en-US" sz="2100" dirty="0" smtClean="0"/>
            </a:br>
            <a:r>
              <a:rPr lang="ru-RU" sz="2100" dirty="0" smtClean="0"/>
              <a:t>в период с «__» _________ 20__ г. по «__» _________ 20__ г.</a:t>
            </a:r>
            <a:r>
              <a:rPr lang="en-US" sz="2200" dirty="0" smtClean="0"/>
              <a:t/>
            </a:r>
            <a:br>
              <a:rPr lang="en-US" sz="2200" dirty="0" smtClean="0"/>
            </a:br>
            <a:r>
              <a:rPr lang="ru-RU" sz="2200" dirty="0" smtClean="0"/>
              <a:t/>
            </a:r>
            <a:br>
              <a:rPr lang="ru-RU" sz="2200" dirty="0" smtClean="0"/>
            </a:br>
            <a:r>
              <a:rPr lang="ru-RU" sz="2100" dirty="0" smtClean="0"/>
              <a:t>Специальность 09.02.07 Информационные системы и программирование</a:t>
            </a:r>
            <a:r>
              <a:rPr lang="ru-RU" sz="2700" dirty="0" smtClean="0"/>
              <a:t/>
            </a:r>
            <a:br>
              <a:rPr lang="ru-RU" sz="2700" dirty="0" smtClean="0"/>
            </a:br>
            <a:r>
              <a:rPr lang="ru-RU" sz="2100" dirty="0" smtClean="0"/>
              <a:t/>
            </a:r>
            <a:br>
              <a:rPr lang="ru-RU" sz="2100" dirty="0" smtClean="0"/>
            </a:br>
            <a:endParaRPr lang="ru-RU" sz="2700" dirty="0"/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xmlns="" id="{8EC7E33D-1387-4B56-A695-F4C72A50F4EE}"/>
              </a:ext>
            </a:extLst>
          </p:cNvPr>
          <p:cNvSpPr txBox="1">
            <a:spLocks/>
          </p:cNvSpPr>
          <p:nvPr/>
        </p:nvSpPr>
        <p:spPr bwMode="auto">
          <a:xfrm>
            <a:off x="426967" y="5980906"/>
            <a:ext cx="8712968" cy="1368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ФИО обучающегося</a:t>
            </a:r>
            <a:r>
              <a:rPr kumimoji="0" lang="ru-RU" altLang="ru-RU" sz="2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: </a:t>
            </a:r>
            <a:r>
              <a:rPr lang="ru-RU" altLang="ru-RU" sz="2400" dirty="0" smtClean="0">
                <a:solidFill>
                  <a:srgbClr val="FF0000"/>
                </a:solidFill>
                <a:latin typeface="Calibri"/>
              </a:rPr>
              <a:t>_</a:t>
            </a:r>
            <a:r>
              <a:rPr lang="ru-RU" altLang="ru-RU" sz="2400" dirty="0" err="1" smtClean="0">
                <a:solidFill>
                  <a:srgbClr val="FF0000"/>
                </a:solidFill>
                <a:latin typeface="Calibri"/>
              </a:rPr>
              <a:t>Акбиев</a:t>
            </a:r>
            <a:r>
              <a:rPr lang="ru-RU" altLang="ru-RU" sz="2400" dirty="0" smtClean="0">
                <a:solidFill>
                  <a:srgbClr val="FF0000"/>
                </a:solidFill>
                <a:latin typeface="Calibri"/>
              </a:rPr>
              <a:t> </a:t>
            </a:r>
            <a:r>
              <a:rPr lang="ru-RU" altLang="ru-RU" sz="2400" dirty="0" err="1" smtClean="0">
                <a:solidFill>
                  <a:srgbClr val="FF0000"/>
                </a:solidFill>
                <a:latin typeface="Calibri"/>
              </a:rPr>
              <a:t>Вайдулла</a:t>
            </a:r>
            <a:r>
              <a:rPr lang="ru-RU" altLang="ru-RU" sz="2400" dirty="0" smtClean="0">
                <a:solidFill>
                  <a:srgbClr val="FF0000"/>
                </a:solidFill>
                <a:latin typeface="Calibri"/>
              </a:rPr>
              <a:t> Русланович ___________</a:t>
            </a:r>
            <a:endParaRPr lang="ru-RU" altLang="ru-RU" sz="2400" dirty="0">
              <a:solidFill>
                <a:srgbClr val="FF0000"/>
              </a:solidFill>
              <a:latin typeface="Calibri"/>
            </a:endParaRPr>
          </a:p>
          <a:p>
            <a:pPr marL="0" marR="0" lvl="0" indent="0" algn="l" defTabSz="9144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ru-RU" altLang="ru-RU" sz="2400" dirty="0">
                <a:solidFill>
                  <a:srgbClr val="FF0000"/>
                </a:solidFill>
                <a:latin typeface="Calibri"/>
              </a:rPr>
              <a:t>Группа: </a:t>
            </a:r>
            <a:r>
              <a:rPr lang="ru-RU" altLang="ru-RU" sz="2400" dirty="0" smtClean="0">
                <a:solidFill>
                  <a:srgbClr val="FF0000"/>
                </a:solidFill>
                <a:latin typeface="Calibri"/>
              </a:rPr>
              <a:t>_И-СП-24 ________________________________________</a:t>
            </a:r>
            <a:endParaRPr lang="ru-RU" altLang="ru-RU" sz="2400" dirty="0">
              <a:solidFill>
                <a:srgbClr val="FF0000"/>
              </a:solidFill>
              <a:latin typeface="Calibri"/>
            </a:endParaRPr>
          </a:p>
          <a:p>
            <a:pPr lvl="0" algn="l" defTabSz="914400" eaLnBrk="1" hangingPunct="1">
              <a:lnSpc>
                <a:spcPct val="80000"/>
              </a:lnSpc>
              <a:spcBef>
                <a:spcPct val="0"/>
              </a:spcBef>
              <a:defRPr/>
            </a:pPr>
            <a:r>
              <a:rPr kumimoji="0" lang="ru-RU" altLang="ru-RU" sz="22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t>ФИО Руководителя:  </a:t>
            </a:r>
            <a:r>
              <a:rPr lang="ru-RU" altLang="ru-RU" sz="2000" dirty="0" smtClean="0">
                <a:solidFill>
                  <a:srgbClr val="FF0000"/>
                </a:solidFill>
              </a:rPr>
              <a:t>_Магомедова М. Н.____________________________</a:t>
            </a:r>
            <a:endParaRPr lang="ru-RU" altLang="ru-RU" sz="2000" dirty="0">
              <a:solidFill>
                <a:srgbClr val="FF0000"/>
              </a:solidFill>
            </a:endParaRPr>
          </a:p>
          <a:p>
            <a:pPr marL="0" marR="0" lvl="0" indent="0" algn="ctr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kumimoji="0" lang="ru-RU" altLang="ru-RU" sz="22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kumimoji="0" lang="en-US" altLang="ru-RU" sz="1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kumimoji="0" lang="en-US" altLang="ru-RU" sz="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endParaRPr kumimoji="0" lang="ru-RU" altLang="ru-RU" sz="8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57A02C01-F3A7-4DE2-9DF2-AD08FA482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516" y="1980431"/>
            <a:ext cx="9144000" cy="12926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 fontAlgn="base" hangingPunct="0"/>
            <a:r>
              <a:rPr lang="ru-RU" sz="1600" b="1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МИНИСТЕРСТВО </a:t>
            </a:r>
            <a:r>
              <a:rPr lang="ru-RU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ОБРАЗОВАНИЯ И НАУКИ </a:t>
            </a:r>
          </a:p>
          <a:p>
            <a:pPr algn="ctr" fontAlgn="base" hangingPunct="0"/>
            <a:r>
              <a:rPr lang="ru-RU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РЕСПУБЛИКИ ДАГЕСТАН</a:t>
            </a:r>
          </a:p>
          <a:p>
            <a:pPr algn="ctr" fontAlgn="base" hangingPunct="0"/>
            <a:r>
              <a:rPr lang="ru-RU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 </a:t>
            </a:r>
            <a:r>
              <a:rPr lang="ru-RU" sz="1600" b="1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Частное </a:t>
            </a:r>
            <a:r>
              <a:rPr lang="ru-RU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профессиональное образовательное учреждение </a:t>
            </a:r>
          </a:p>
          <a:p>
            <a:pPr algn="ctr"/>
            <a:r>
              <a:rPr lang="ru-RU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«Республиканский </a:t>
            </a:r>
            <a:r>
              <a:rPr lang="ru-RU" sz="16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полипрофессиональный</a:t>
            </a:r>
            <a:r>
              <a:rPr lang="ru-RU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колледж»</a:t>
            </a:r>
          </a:p>
          <a:p>
            <a:pPr algn="ctr" defTabSz="914400" fontAlgn="base">
              <a:spcBef>
                <a:spcPct val="0"/>
              </a:spcBef>
              <a:spcAft>
                <a:spcPct val="0"/>
              </a:spcAft>
            </a:pPr>
            <a:endParaRPr lang="ru-RU" altLang="ru-RU" sz="14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79125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673" y="561291"/>
            <a:ext cx="9687193" cy="567848"/>
          </a:xfrm>
        </p:spPr>
        <p:txBody>
          <a:bodyPr/>
          <a:lstStyle/>
          <a:p>
            <a:r>
              <a:rPr lang="ru-RU" dirty="0" smtClean="0"/>
              <a:t>Содержание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450156" y="1836415"/>
            <a:ext cx="9687193" cy="43499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Bef>
                <a:spcPts val="800"/>
              </a:spcBef>
              <a:spcAft>
                <a:spcPts val="800"/>
              </a:spcAft>
            </a:pPr>
            <a:r>
              <a:rPr lang="ru-RU" sz="2500" dirty="0" smtClean="0">
                <a:solidFill>
                  <a:srgbClr val="FF0000"/>
                </a:solidFill>
              </a:rPr>
              <a:t>1. </a:t>
            </a:r>
            <a:r>
              <a:rPr lang="ru-RU" sz="2000" dirty="0" smtClean="0"/>
              <a:t>Инструктаж </a:t>
            </a:r>
            <a:r>
              <a:rPr lang="ru-RU" sz="2000" dirty="0"/>
              <a:t>по соблюдению правил противопожарной безопасности, правил охраны труда, м</a:t>
            </a:r>
            <a:r>
              <a:rPr lang="ru-RU" sz="2000" dirty="0" smtClean="0"/>
              <a:t>еры </a:t>
            </a:r>
            <a:r>
              <a:rPr lang="ru-RU" sz="2000" dirty="0"/>
              <a:t>по обеспечению безопасности при работе с компьютерной </a:t>
            </a:r>
            <a:r>
              <a:rPr lang="ru-RU" sz="2000" dirty="0" smtClean="0"/>
              <a:t>техникой</a:t>
            </a:r>
          </a:p>
          <a:p>
            <a:pPr algn="just">
              <a:spcBef>
                <a:spcPts val="800"/>
              </a:spcBef>
              <a:spcAft>
                <a:spcPts val="800"/>
              </a:spcAft>
            </a:pPr>
            <a:r>
              <a:rPr lang="ru-RU" sz="2500" dirty="0" smtClean="0">
                <a:solidFill>
                  <a:srgbClr val="FF0000"/>
                </a:solidFill>
              </a:rPr>
              <a:t>2. </a:t>
            </a:r>
            <a:r>
              <a:rPr lang="ru-RU" dirty="0" smtClean="0"/>
              <a:t>Анализ предметной области</a:t>
            </a:r>
          </a:p>
          <a:p>
            <a:pPr algn="just">
              <a:spcBef>
                <a:spcPts val="800"/>
              </a:spcBef>
              <a:spcAft>
                <a:spcPts val="800"/>
              </a:spcAft>
            </a:pPr>
            <a:r>
              <a:rPr lang="ru-RU" sz="2500" dirty="0" smtClean="0">
                <a:solidFill>
                  <a:srgbClr val="FF0000"/>
                </a:solidFill>
              </a:rPr>
              <a:t>3. </a:t>
            </a:r>
            <a:r>
              <a:rPr lang="ru-RU" sz="2000" dirty="0" smtClean="0"/>
              <a:t>Разработка спецификаций программного модуля</a:t>
            </a:r>
          </a:p>
          <a:p>
            <a:pPr algn="just">
              <a:spcBef>
                <a:spcPts val="800"/>
              </a:spcBef>
              <a:spcAft>
                <a:spcPts val="800"/>
              </a:spcAft>
            </a:pPr>
            <a:r>
              <a:rPr lang="ru-RU" sz="2500" dirty="0" smtClean="0">
                <a:solidFill>
                  <a:srgbClr val="FF0000"/>
                </a:solidFill>
              </a:rPr>
              <a:t>4. </a:t>
            </a:r>
            <a:r>
              <a:rPr lang="ru-RU" sz="2000" dirty="0" smtClean="0"/>
              <a:t>Разработка кода программного продукта на основе готовой спецификации на уровне модуля</a:t>
            </a:r>
            <a:endParaRPr lang="ru-RU" sz="2000" dirty="0"/>
          </a:p>
          <a:p>
            <a:pPr algn="just">
              <a:spcBef>
                <a:spcPts val="800"/>
              </a:spcBef>
              <a:spcAft>
                <a:spcPts val="800"/>
              </a:spcAft>
            </a:pPr>
            <a:r>
              <a:rPr lang="ru-RU" sz="2500" dirty="0" smtClean="0">
                <a:solidFill>
                  <a:srgbClr val="FF0000"/>
                </a:solidFill>
              </a:rPr>
              <a:t>5. </a:t>
            </a:r>
            <a:r>
              <a:rPr lang="ru-RU" sz="2000" dirty="0" smtClean="0"/>
              <a:t>Проведение тестирования программного модуля</a:t>
            </a:r>
          </a:p>
          <a:p>
            <a:pPr algn="just">
              <a:spcBef>
                <a:spcPts val="800"/>
              </a:spcBef>
              <a:spcAft>
                <a:spcPts val="800"/>
              </a:spcAft>
            </a:pPr>
            <a:r>
              <a:rPr lang="ru-RU" sz="2500" dirty="0">
                <a:solidFill>
                  <a:srgbClr val="FF0000"/>
                </a:solidFill>
              </a:rPr>
              <a:t>6. </a:t>
            </a:r>
            <a:r>
              <a:rPr lang="ru-RU" sz="2000" dirty="0" smtClean="0"/>
              <a:t>Вывод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395558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024" y="300959"/>
            <a:ext cx="9687193" cy="498598"/>
          </a:xfrm>
        </p:spPr>
        <p:txBody>
          <a:bodyPr/>
          <a:lstStyle/>
          <a:p>
            <a:r>
              <a:rPr lang="ru-RU" sz="3600" dirty="0" smtClean="0"/>
              <a:t>Организационный этап</a:t>
            </a:r>
            <a:endParaRPr lang="ru-RU" sz="3600" dirty="0"/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xmlns="" id="{D3A72EAB-AC9B-4564-B5A2-652358624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024" y="1908423"/>
            <a:ext cx="9824904" cy="4608512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100000"/>
              </a:lnSpc>
              <a:buNone/>
            </a:pPr>
            <a:r>
              <a:rPr lang="ru-RU" sz="1600" dirty="0"/>
              <a:t>Я, </a:t>
            </a:r>
            <a:r>
              <a:rPr lang="ru-RU" sz="1600" dirty="0" err="1" smtClean="0">
                <a:solidFill>
                  <a:srgbClr val="FF0000"/>
                </a:solidFill>
              </a:rPr>
              <a:t>Акбиев</a:t>
            </a:r>
            <a:r>
              <a:rPr lang="ru-RU" sz="1600" dirty="0" smtClean="0">
                <a:solidFill>
                  <a:srgbClr val="FF0000"/>
                </a:solidFill>
              </a:rPr>
              <a:t> </a:t>
            </a:r>
            <a:r>
              <a:rPr lang="ru-RU" sz="1600" dirty="0" err="1" smtClean="0">
                <a:solidFill>
                  <a:srgbClr val="FF0000"/>
                </a:solidFill>
              </a:rPr>
              <a:t>Вайдулла</a:t>
            </a:r>
            <a:r>
              <a:rPr lang="ru-RU" sz="1600" dirty="0" smtClean="0">
                <a:solidFill>
                  <a:srgbClr val="FF0000"/>
                </a:solidFill>
              </a:rPr>
              <a:t> </a:t>
            </a:r>
            <a:r>
              <a:rPr lang="ru-RU" sz="1600" dirty="0" err="1" smtClean="0">
                <a:solidFill>
                  <a:srgbClr val="FF0000"/>
                </a:solidFill>
              </a:rPr>
              <a:t>Руссланович</a:t>
            </a:r>
            <a:r>
              <a:rPr lang="ru-RU" sz="1600" dirty="0" smtClean="0"/>
              <a:t>, проходил производственную </a:t>
            </a:r>
            <a:r>
              <a:rPr lang="ru-RU" sz="1600" dirty="0"/>
              <a:t>практику на базе </a:t>
            </a:r>
            <a:r>
              <a:rPr lang="ru-RU" sz="1600" dirty="0" smtClean="0"/>
              <a:t>АО «Концерн КЭМЗ»</a:t>
            </a:r>
            <a:endParaRPr lang="ru-RU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1600" dirty="0"/>
              <a:t>При выполнении индивидуального задания по практике </a:t>
            </a:r>
            <a:r>
              <a:rPr lang="ru-RU" sz="1600" dirty="0" smtClean="0"/>
              <a:t>решал </a:t>
            </a:r>
            <a:r>
              <a:rPr lang="ru-RU" sz="1600" dirty="0"/>
              <a:t>задачу </a:t>
            </a:r>
            <a:r>
              <a:rPr lang="ru-RU" sz="1600" dirty="0" smtClean="0"/>
              <a:t>создания приложения для предметной области производственной практики.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ru-RU" sz="1600" dirty="0" smtClean="0"/>
              <a:t>Перед </a:t>
            </a:r>
            <a:r>
              <a:rPr lang="ru-RU" sz="1600" dirty="0"/>
              <a:t>началом практики:</a:t>
            </a:r>
          </a:p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ru-RU" sz="1600" dirty="0" smtClean="0"/>
              <a:t>Принял </a:t>
            </a:r>
            <a:r>
              <a:rPr lang="ru-RU" sz="1600" dirty="0"/>
              <a:t>участие в организационном собрании по практике.</a:t>
            </a:r>
          </a:p>
          <a:p>
            <a:pPr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ru-RU" sz="1600" dirty="0" smtClean="0"/>
              <a:t>Ознакомился </a:t>
            </a:r>
            <a:r>
              <a:rPr lang="ru-RU" sz="1600" dirty="0"/>
              <a:t>с комплектом шаблонов отчетной документации по практике.</a:t>
            </a:r>
          </a:p>
          <a:p>
            <a:pPr algn="just">
              <a:lnSpc>
                <a:spcPct val="100000"/>
              </a:lnSpc>
              <a:buFont typeface="Courier New" panose="02070309020205020404" pitchFamily="49" charset="0"/>
              <a:buChar char="o"/>
            </a:pPr>
            <a:r>
              <a:rPr lang="ru-RU" sz="1600" dirty="0" smtClean="0"/>
              <a:t>Уточнил </a:t>
            </a:r>
            <a:r>
              <a:rPr lang="ru-RU" sz="1600" dirty="0"/>
              <a:t>контакты руководителя практики от </a:t>
            </a:r>
            <a:r>
              <a:rPr lang="ru-RU" sz="1600" dirty="0" smtClean="0"/>
              <a:t>Образовательной </a:t>
            </a:r>
            <a:r>
              <a:rPr lang="ru-RU" sz="1600" dirty="0"/>
              <a:t>организации, а также правила в отношении субординации, внешнего вида, графика работы, техники безопасности:</a:t>
            </a:r>
          </a:p>
          <a:p>
            <a:pPr marL="885066" lvl="1" indent="-363538">
              <a:lnSpc>
                <a:spcPct val="100000"/>
              </a:lnSpc>
              <a:spcAft>
                <a:spcPts val="1200"/>
              </a:spcAft>
            </a:pPr>
            <a:r>
              <a:rPr lang="ru-RU" sz="1600" dirty="0"/>
              <a:t>Требования к внешнему виду: деловой стиль, сменная обувь, без джинсов и ярких аксессуаров.</a:t>
            </a:r>
            <a:endParaRPr lang="ru-RU" sz="1600" dirty="0">
              <a:solidFill>
                <a:srgbClr val="FF0000"/>
              </a:solidFill>
            </a:endParaRPr>
          </a:p>
          <a:p>
            <a:pPr marL="885066" lvl="1" indent="-363538">
              <a:lnSpc>
                <a:spcPct val="100000"/>
              </a:lnSpc>
              <a:spcAft>
                <a:spcPts val="1200"/>
              </a:spcAft>
            </a:pPr>
            <a:r>
              <a:rPr lang="ru-RU" sz="1600" dirty="0" smtClean="0"/>
              <a:t>Круг </a:t>
            </a:r>
            <a:r>
              <a:rPr lang="ru-RU" sz="1600" dirty="0"/>
              <a:t>обязанностей: разработка на C# (</a:t>
            </a:r>
            <a:r>
              <a:rPr lang="ru-RU" sz="1600" dirty="0" err="1"/>
              <a:t>WinForms</a:t>
            </a:r>
            <a:r>
              <a:rPr lang="ru-RU" sz="1600" dirty="0"/>
              <a:t>), интерфейс, код, тестирование, отчёт.</a:t>
            </a:r>
            <a:endParaRPr lang="ru-RU" sz="1600" dirty="0">
              <a:solidFill>
                <a:srgbClr val="FF0000"/>
              </a:solidFill>
            </a:endParaRPr>
          </a:p>
          <a:p>
            <a:pPr marL="885066" lvl="1" indent="-363538">
              <a:lnSpc>
                <a:spcPct val="100000"/>
              </a:lnSpc>
              <a:spcAft>
                <a:spcPts val="1200"/>
              </a:spcAft>
            </a:pPr>
            <a:r>
              <a:rPr lang="ru-RU" sz="1600" dirty="0"/>
              <a:t>Доступ к данным: ПК с </a:t>
            </a:r>
            <a:r>
              <a:rPr lang="ru-RU" sz="1600" dirty="0" err="1"/>
              <a:t>Visual</a:t>
            </a:r>
            <a:r>
              <a:rPr lang="ru-RU" sz="1600" dirty="0"/>
              <a:t> </a:t>
            </a:r>
            <a:r>
              <a:rPr lang="ru-RU" sz="1600" dirty="0" err="1"/>
              <a:t>Studio</a:t>
            </a:r>
            <a:r>
              <a:rPr lang="ru-RU" sz="1600" dirty="0"/>
              <a:t>, локальная сеть, справочные материалы (</a:t>
            </a:r>
            <a:r>
              <a:rPr lang="ru-RU" sz="1600" dirty="0" err="1"/>
              <a:t>Excel</a:t>
            </a:r>
            <a:r>
              <a:rPr lang="ru-RU" sz="1600" dirty="0"/>
              <a:t>, журналы).</a:t>
            </a:r>
            <a:endParaRPr lang="ru-RU" sz="1600" dirty="0">
              <a:solidFill>
                <a:srgbClr val="FF0000"/>
              </a:solidFill>
            </a:endParaRP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xmlns="" id="{A9319FAD-9C52-40D6-8EEA-0A80857906F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6313" y="779740"/>
            <a:ext cx="9824904" cy="709522"/>
          </a:xfrm>
        </p:spPr>
        <p:txBody>
          <a:bodyPr>
            <a:normAutofit lnSpcReduction="10000"/>
          </a:bodyPr>
          <a:lstStyle/>
          <a:p>
            <a:r>
              <a:rPr lang="ru-RU" b="0" dirty="0">
                <a:solidFill>
                  <a:srgbClr val="E60000"/>
                </a:solidFill>
              </a:rPr>
              <a:t>Правила внутреннего распорядка, правила и нормы охраны труда, </a:t>
            </a:r>
            <a:endParaRPr lang="ru-RU" b="0" dirty="0" smtClean="0">
              <a:solidFill>
                <a:srgbClr val="E60000"/>
              </a:solidFill>
            </a:endParaRPr>
          </a:p>
          <a:p>
            <a:r>
              <a:rPr lang="ru-RU" b="0" dirty="0" smtClean="0">
                <a:solidFill>
                  <a:srgbClr val="E60000"/>
                </a:solidFill>
              </a:rPr>
              <a:t>техники </a:t>
            </a:r>
            <a:r>
              <a:rPr lang="ru-RU" b="0" dirty="0">
                <a:solidFill>
                  <a:srgbClr val="E60000"/>
                </a:solidFill>
              </a:rPr>
              <a:t>безопасности при работе с вычислительной техникой</a:t>
            </a:r>
          </a:p>
        </p:txBody>
      </p:sp>
    </p:spTree>
    <p:extLst>
      <p:ext uri="{BB962C8B-B14F-4D97-AF65-F5344CB8AC3E}">
        <p14:creationId xmlns:p14="http://schemas.microsoft.com/office/powerpoint/2010/main" val="111581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Техника безопасности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237832"/>
            <a:ext cx="9824904" cy="334915"/>
          </a:xfrm>
        </p:spPr>
        <p:txBody>
          <a:bodyPr>
            <a:noAutofit/>
          </a:bodyPr>
          <a:lstStyle/>
          <a:p>
            <a:r>
              <a:rPr lang="ru-RU" sz="1700" b="0" dirty="0">
                <a:solidFill>
                  <a:srgbClr val="E60000"/>
                </a:solidFill>
              </a:rPr>
              <a:t>Инструкция по охране труда. Инструкции по технике безопасности и </a:t>
            </a:r>
            <a:r>
              <a:rPr lang="ru-RU" sz="1700" b="0" dirty="0" err="1">
                <a:solidFill>
                  <a:srgbClr val="E60000"/>
                </a:solidFill>
              </a:rPr>
              <a:t>пожароопасности</a:t>
            </a:r>
            <a:r>
              <a:rPr lang="ru-RU" sz="1700" b="0" dirty="0">
                <a:solidFill>
                  <a:srgbClr val="E60000"/>
                </a:solidFill>
              </a:rPr>
              <a:t>. Меры по обеспечению безопасности при работе с компьютерной техникой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626620" y="1749888"/>
            <a:ext cx="6066779" cy="2354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Техника </a:t>
            </a:r>
            <a:r>
              <a:rPr lang="ru-RU" b="1" dirty="0" smtClean="0"/>
              <a:t>безопасности.</a:t>
            </a:r>
            <a:endParaRPr lang="ru-RU" b="1" dirty="0"/>
          </a:p>
          <a:p>
            <a:r>
              <a:rPr lang="ru-RU" b="1" dirty="0"/>
              <a:t>Инструкция по охране труда (СанПиН 1.2.3685-21)</a:t>
            </a:r>
            <a:endParaRPr lang="ru-RU" dirty="0"/>
          </a:p>
          <a:p>
            <a:r>
              <a:rPr lang="ru-RU" dirty="0"/>
              <a:t>Площадь рабочего места – не менее 4,5 м²</a:t>
            </a:r>
          </a:p>
          <a:p>
            <a:r>
              <a:rPr lang="ru-RU" dirty="0"/>
              <a:t>Расстояние до экрана – 60–70 см, освещённость 300–500 люкс</a:t>
            </a:r>
          </a:p>
          <a:p>
            <a:r>
              <a:rPr lang="ru-RU" dirty="0"/>
              <a:t>Режим труда: 2 часа работы → 15 минут перерыва</a:t>
            </a:r>
          </a:p>
          <a:p>
            <a:r>
              <a:rPr lang="ru-RU" dirty="0"/>
              <a:t>Запрещено вскрывать ПК и отключать </a:t>
            </a:r>
            <a:r>
              <a:rPr lang="ru-RU" dirty="0" smtClean="0"/>
              <a:t>заземление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28" y="2052439"/>
            <a:ext cx="1902117" cy="1902117"/>
          </a:xfrm>
          <a:prstGeom prst="rect">
            <a:avLst/>
          </a:prstGeom>
        </p:spPr>
      </p:pic>
      <p:pic>
        <p:nvPicPr>
          <p:cNvPr id="11" name="Рисунок 10" descr="C:\Users\rpk2024.6\Downloads\stol-8.jp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1782994"/>
            <a:ext cx="4626620" cy="2645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Прямоугольник 2"/>
          <p:cNvSpPr/>
          <p:nvPr/>
        </p:nvSpPr>
        <p:spPr>
          <a:xfrm>
            <a:off x="-51676" y="4356695"/>
            <a:ext cx="4678297" cy="2354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Меры безопасности при работе с </a:t>
            </a:r>
            <a:r>
              <a:rPr lang="ru-RU" b="1" dirty="0" smtClean="0"/>
              <a:t>ПК.</a:t>
            </a:r>
            <a:endParaRPr lang="ru-RU" dirty="0"/>
          </a:p>
          <a:p>
            <a:r>
              <a:rPr lang="ru-RU" dirty="0"/>
              <a:t>Электропитание через ИБП, заземление</a:t>
            </a:r>
          </a:p>
          <a:p>
            <a:r>
              <a:rPr lang="ru-RU" dirty="0"/>
              <a:t>Ежедневная влажная уборка, проветривание</a:t>
            </a:r>
          </a:p>
          <a:p>
            <a:r>
              <a:rPr lang="ru-RU" dirty="0"/>
              <a:t>Вводный инструктаж перед началом практики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626620" y="4349129"/>
            <a:ext cx="53467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/>
              <a:t>Пожарная безопасность (ИПБ-022</a:t>
            </a:r>
            <a:r>
              <a:rPr lang="ru-RU" b="1" dirty="0" smtClean="0"/>
              <a:t>).</a:t>
            </a:r>
            <a:endParaRPr lang="ru-RU" dirty="0"/>
          </a:p>
          <a:p>
            <a:r>
              <a:rPr lang="ru-RU" dirty="0"/>
              <a:t>Не оставлять оборудование без присмотра</a:t>
            </a:r>
          </a:p>
          <a:p>
            <a:r>
              <a:rPr lang="ru-RU" dirty="0"/>
              <a:t>Не загромождать проходы, использовать исправные розетки</a:t>
            </a:r>
          </a:p>
          <a:p>
            <a:r>
              <a:rPr lang="ru-RU" dirty="0"/>
              <a:t>При пожаре: отключить питание, звонить 101, тушить углекислотным огнетушителем</a:t>
            </a:r>
          </a:p>
        </p:txBody>
      </p:sp>
    </p:spTree>
    <p:extLst>
      <p:ext uri="{BB962C8B-B14F-4D97-AF65-F5344CB8AC3E}">
        <p14:creationId xmlns:p14="http://schemas.microsoft.com/office/powerpoint/2010/main" val="42845921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Анализ предметной области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>
                <a:solidFill>
                  <a:srgbClr val="E60000"/>
                </a:solidFill>
              </a:rPr>
              <a:t>Краткая технико-экономическая характеристика объекта практики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3746475" y="2124447"/>
            <a:ext cx="7288857" cy="2354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АО «Концерн КЭМЗ»</a:t>
            </a:r>
            <a:r>
              <a:rPr lang="ru-RU" dirty="0"/>
              <a:t> – авиастроительный завод в г. Кизляр.</a:t>
            </a:r>
            <a:br>
              <a:rPr lang="ru-RU" dirty="0"/>
            </a:br>
            <a:r>
              <a:rPr lang="ru-RU" dirty="0"/>
              <a:t>Продукция: детали и электрооборудование для самолётов.</a:t>
            </a:r>
          </a:p>
          <a:p>
            <a:endParaRPr lang="ru-RU" b="1" dirty="0" smtClean="0"/>
          </a:p>
          <a:p>
            <a:r>
              <a:rPr lang="ru-RU" b="1" dirty="0" smtClean="0"/>
              <a:t>Практика </a:t>
            </a:r>
            <a:r>
              <a:rPr lang="ru-RU" b="1" dirty="0"/>
              <a:t>в отделе учёта деталей.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До разработки – учёт в </a:t>
            </a:r>
            <a:r>
              <a:rPr lang="ru-RU" dirty="0" err="1"/>
              <a:t>Excel</a:t>
            </a:r>
            <a:r>
              <a:rPr lang="ru-RU" dirty="0"/>
              <a:t> (ошибки, дублирование).</a:t>
            </a:r>
            <a:br>
              <a:rPr lang="ru-RU" dirty="0"/>
            </a:br>
            <a:r>
              <a:rPr lang="ru-RU" dirty="0"/>
              <a:t>Разработан модуль на C# для автоматизации учёта.</a:t>
            </a:r>
          </a:p>
          <a:p>
            <a:pPr algn="ctr"/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4" name="Рисунок 13" descr="C:\Users\rpk2024.6\Downloads\i.jp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24447"/>
            <a:ext cx="3743325" cy="3924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36282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Анализ предметной области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>
                <a:solidFill>
                  <a:srgbClr val="E60000"/>
                </a:solidFill>
              </a:rPr>
              <a:t>Состав технических средств подразделения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842644" y="1793645"/>
            <a:ext cx="5904656" cy="30008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Рабочее место оснащено ИБП для защиты от скачков напряжения</a:t>
            </a:r>
            <a:r>
              <a:rPr lang="ru-RU" dirty="0" smtClean="0"/>
              <a:t>.</a:t>
            </a:r>
            <a:endParaRPr lang="en-US" dirty="0" smtClean="0"/>
          </a:p>
          <a:p>
            <a:endParaRPr lang="ru-RU" dirty="0"/>
          </a:p>
          <a:p>
            <a:r>
              <a:rPr lang="ru-RU" dirty="0"/>
              <a:t>Проведён локальный доступ к файловому серверу предприятия</a:t>
            </a:r>
            <a:r>
              <a:rPr lang="ru-RU" dirty="0" smtClean="0"/>
              <a:t>.</a:t>
            </a:r>
            <a:endParaRPr lang="en-US" dirty="0" smtClean="0"/>
          </a:p>
          <a:p>
            <a:endParaRPr lang="ru-RU" dirty="0"/>
          </a:p>
          <a:p>
            <a:r>
              <a:rPr lang="ru-RU" dirty="0"/>
              <a:t>Вся техника прошла проверку заземления и электробезопасности.</a:t>
            </a:r>
          </a:p>
          <a:p>
            <a:pPr algn="ctr"/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844589"/>
              </p:ext>
            </p:extLst>
          </p:nvPr>
        </p:nvGraphicFramePr>
        <p:xfrm>
          <a:off x="-1082" y="2347643"/>
          <a:ext cx="4051638" cy="3429000"/>
        </p:xfrm>
        <a:graphic>
          <a:graphicData uri="http://schemas.openxmlformats.org/drawingml/2006/table">
            <a:tbl>
              <a:tblPr/>
              <a:tblGrid>
                <a:gridCol w="2025819"/>
                <a:gridCol w="2025819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Наименование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Характеристики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Рабочая станция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it-IT" b="0">
                          <a:effectLst/>
                          <a:latin typeface="quote-cjk-patch"/>
                        </a:rPr>
                        <a:t>Intel Core i5, 8 ГБ ОЗУ, SSD 256 ГБ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ОС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Windows 10 Pro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Принтер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HP LaserJet Pro M404dn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Сканер штрих-кодов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Honeywell Voyager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Сетевое оборудование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Коммутатор D-</a:t>
                      </a:r>
                      <a:r>
                        <a:rPr lang="ru-RU" b="0" dirty="0" err="1">
                          <a:effectLst/>
                          <a:latin typeface="quote-cjk-patch"/>
                        </a:rPr>
                        <a:t>Link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, </a:t>
                      </a:r>
                      <a:r>
                        <a:rPr lang="ru-RU" b="0" dirty="0" err="1">
                          <a:effectLst/>
                          <a:latin typeface="quote-cjk-patch"/>
                        </a:rPr>
                        <a:t>Ethernet</a:t>
                      </a:r>
                      <a:r>
                        <a:rPr lang="ru-RU" b="0" dirty="0">
                          <a:effectLst/>
                          <a:latin typeface="quote-cjk-patch"/>
                        </a:rPr>
                        <a:t> 1 Гбит/с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5" name="Rectangle 2"/>
          <p:cNvSpPr>
            <a:spLocks noChangeArrowheads="1"/>
          </p:cNvSpPr>
          <p:nvPr/>
        </p:nvSpPr>
        <p:spPr bwMode="auto">
          <a:xfrm>
            <a:off x="-1082" y="1904259"/>
            <a:ext cx="4051638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Состав технических средств</a:t>
            </a:r>
          </a:p>
        </p:txBody>
      </p:sp>
    </p:spTree>
    <p:extLst>
      <p:ext uri="{BB962C8B-B14F-4D97-AF65-F5344CB8AC3E}">
        <p14:creationId xmlns:p14="http://schemas.microsoft.com/office/powerpoint/2010/main" val="1385340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Анализ предметной области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13717" y="1303113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>
                <a:solidFill>
                  <a:srgbClr val="E60000"/>
                </a:solidFill>
              </a:rPr>
              <a:t>Состав программного обеспечения и тематика решаемых задач структурным подразделением</a:t>
            </a:r>
          </a:p>
        </p:txBody>
      </p:sp>
      <p:graphicFrame>
        <p:nvGraphicFramePr>
          <p:cNvPr id="14" name="Таблица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017259"/>
              </p:ext>
            </p:extLst>
          </p:nvPr>
        </p:nvGraphicFramePr>
        <p:xfrm>
          <a:off x="-5215" y="2675907"/>
          <a:ext cx="4847860" cy="3886200"/>
        </p:xfrm>
        <a:graphic>
          <a:graphicData uri="http://schemas.openxmlformats.org/drawingml/2006/table">
            <a:tbl>
              <a:tblPr/>
              <a:tblGrid>
                <a:gridCol w="2423930"/>
                <a:gridCol w="2423930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0" dirty="0">
                          <a:effectLst/>
                          <a:latin typeface="quote-cjk-patch"/>
                        </a:rPr>
                        <a:t>Наименование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Назначение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50721"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Windows 10 Pro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Операционная система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3326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Microsoft Office 365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Ведение Excel-таблиц учёта, оформление документов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42023"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1С:Предприятие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Бухгалтерский и складской учёт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42023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PostgreSQL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База данных готовой продукции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33326"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Visual Studio 2022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Среда разработки (использовалась для создания модуля)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6" name="Rectangle 2"/>
          <p:cNvSpPr>
            <a:spLocks noChangeArrowheads="1"/>
          </p:cNvSpPr>
          <p:nvPr/>
        </p:nvSpPr>
        <p:spPr bwMode="auto">
          <a:xfrm>
            <a:off x="5850756" y="3034062"/>
            <a:ext cx="4842644" cy="16125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2677" rIns="0" bIns="112677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5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Основные задачи подразделения (отдел учёта деталей):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Приёмка поступающих авиационных деталей от поставщиков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Регистрация выдачи деталей в производственные цеха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Учёт установки деталей на борт самолёта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Списание неисправных или выработавших ресурс деталей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2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Формирование отчётов по остаткам на складе</a:t>
            </a:r>
          </a:p>
        </p:txBody>
      </p:sp>
      <p:sp>
        <p:nvSpPr>
          <p:cNvPr id="17" name="Прямоугольник 16"/>
          <p:cNvSpPr/>
          <p:nvPr/>
        </p:nvSpPr>
        <p:spPr>
          <a:xfrm>
            <a:off x="-51676" y="1757224"/>
            <a:ext cx="799066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F1115"/>
                </a:solidFill>
                <a:latin typeface="quote-cjk-patch"/>
              </a:rPr>
              <a:t>Состав программного обеспечения и тематика решаемых задач структурным подразделением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9413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Анализ предметной области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>
                <a:solidFill>
                  <a:srgbClr val="E60000"/>
                </a:solidFill>
              </a:rPr>
              <a:t>Анализ требований к разрабатываемому программному модулю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458268" y="2268463"/>
            <a:ext cx="8037909" cy="30008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/>
              <a:t>Сбор </a:t>
            </a:r>
            <a:r>
              <a:rPr lang="ru-RU" b="1" dirty="0"/>
              <a:t>требований:</a:t>
            </a:r>
            <a:r>
              <a:rPr lang="ru-RU" dirty="0"/>
              <a:t> опрос сотрудников, анализ </a:t>
            </a:r>
            <a:r>
              <a:rPr lang="ru-RU" dirty="0" err="1"/>
              <a:t>Excel</a:t>
            </a:r>
            <a:r>
              <a:rPr lang="ru-RU" dirty="0"/>
              <a:t>-журналов</a:t>
            </a:r>
            <a:r>
              <a:rPr lang="ru-RU" dirty="0" smtClean="0"/>
              <a:t>.</a:t>
            </a:r>
          </a:p>
          <a:p>
            <a:pPr algn="ctr"/>
            <a:r>
              <a:rPr lang="ru-RU" dirty="0"/>
              <a:t/>
            </a:r>
            <a:br>
              <a:rPr lang="ru-RU" dirty="0"/>
            </a:br>
            <a:r>
              <a:rPr lang="ru-RU" b="1" dirty="0"/>
              <a:t>Документирование:</a:t>
            </a:r>
            <a:r>
              <a:rPr lang="ru-RU" dirty="0"/>
              <a:t> таблица с 10 требованиями (CRUD, поиск, фильтр, </a:t>
            </a:r>
            <a:r>
              <a:rPr lang="ru-RU" dirty="0" err="1"/>
              <a:t>автосохранение</a:t>
            </a:r>
            <a:r>
              <a:rPr lang="ru-RU" dirty="0"/>
              <a:t>, уникальность</a:t>
            </a:r>
            <a:r>
              <a:rPr lang="ru-RU" dirty="0" smtClean="0"/>
              <a:t>).</a:t>
            </a:r>
          </a:p>
          <a:p>
            <a:pPr algn="ctr"/>
            <a:r>
              <a:rPr lang="ru-RU" dirty="0"/>
              <a:t/>
            </a:r>
            <a:br>
              <a:rPr lang="ru-RU" dirty="0"/>
            </a:br>
            <a:r>
              <a:rPr lang="ru-RU" b="1" dirty="0"/>
              <a:t>Оценка:</a:t>
            </a:r>
            <a:r>
              <a:rPr lang="ru-RU" dirty="0"/>
              <a:t> высокий приоритет – функциональность сохранения и уникальности; средний – интерфейс и поиск</a:t>
            </a:r>
            <a:r>
              <a:rPr lang="ru-RU" dirty="0" smtClean="0"/>
              <a:t>.</a:t>
            </a:r>
          </a:p>
          <a:p>
            <a:pPr algn="ctr"/>
            <a:r>
              <a:rPr lang="ru-RU" dirty="0"/>
              <a:t/>
            </a:r>
            <a:br>
              <a:rPr lang="ru-RU" dirty="0"/>
            </a:br>
            <a:r>
              <a:rPr lang="ru-RU" b="1" dirty="0"/>
              <a:t>Результат:</a:t>
            </a:r>
            <a:r>
              <a:rPr lang="ru-RU" dirty="0"/>
              <a:t> требования реализованы в модуле на C#.</a:t>
            </a:r>
            <a:endParaRPr lang="ru-RU" b="1" i="1" dirty="0">
              <a:solidFill>
                <a:schemeClr val="accent6">
                  <a:lumMod val="75000"/>
                </a:schemeClr>
              </a:solidFill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6445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Разработка спецификаций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b="0" dirty="0"/>
              <a:t>Описание функциональной спецификации модуля</a:t>
            </a:r>
            <a:endParaRPr lang="ru-RU" sz="1700" b="0" dirty="0">
              <a:solidFill>
                <a:srgbClr val="E60000"/>
              </a:solidFill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764407"/>
            <a:ext cx="3286760" cy="5038725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311352" y="1692399"/>
            <a:ext cx="7400428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Функциональные </a:t>
            </a:r>
            <a:r>
              <a:rPr lang="ru-RU" sz="1600" b="1" dirty="0" smtClean="0">
                <a:solidFill>
                  <a:srgbClr val="0F1115"/>
                </a:solidFill>
                <a:latin typeface="quote-cjk-patch"/>
              </a:rPr>
              <a:t>требования</a:t>
            </a:r>
          </a:p>
          <a:p>
            <a:r>
              <a:rPr lang="ru-RU" sz="1600" dirty="0" smtClean="0">
                <a:solidFill>
                  <a:srgbClr val="0F1115"/>
                </a:solidFill>
                <a:latin typeface="quote-cjk-patch"/>
              </a:rPr>
              <a:t>Модуль 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«Система учёта деталей самолётов» выполняет следующие функции: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Просмотр списка деталей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отображение всех записей в таблице (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DataGridView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) с возможностью сортировки по столбцам.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Добавление детали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открытие формы ввода с полями: наименование, уникальный номер, тип, дата изготовления, статус, борт самолёта, описание.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Редактирование детали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выбор строки → изменение данных → сохранение.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Удаление детали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подтверждение удаления (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MessageBox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) → удаление записи из списка и из файла JSON.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Поиск детали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текстовый поиск по номеру детали или наименованию (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регистронезависимый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).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Фильтрация по статусу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выпадающий список (все / на складе / установлена / списана) → динамическое обновление таблицы.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Статистика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автоматический подсчёт общего количества деталей, а также количества по каждому статусу.</a:t>
            </a:r>
          </a:p>
          <a:p>
            <a:pPr>
              <a:buFont typeface="+mj-lt"/>
              <a:buAutoNum type="arabicPeriod"/>
            </a:pP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Горячие клавиши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 – F5 (обновить), 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Ctrl+N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(добавить), 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Ctrl+E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(редактировать), 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Delete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(удалить), 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Ctrl+F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(фокус на поиск).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36015870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Разработка спецификаций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600" b="0" dirty="0"/>
              <a:t>Описание синтаксической спецификации входа модуля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1366164" y="4356695"/>
            <a:ext cx="770485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2"/>
          <a:stretch>
            <a:fillRect/>
          </a:stretch>
        </p:blipFill>
        <p:spPr>
          <a:xfrm>
            <a:off x="11460" y="1692399"/>
            <a:ext cx="4320480" cy="4870991"/>
          </a:xfrm>
          <a:prstGeom prst="rect">
            <a:avLst/>
          </a:prstGeom>
        </p:spPr>
      </p:pic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0654484"/>
              </p:ext>
            </p:extLst>
          </p:nvPr>
        </p:nvGraphicFramePr>
        <p:xfrm>
          <a:off x="4357960" y="1765966"/>
          <a:ext cx="6335441" cy="4797424"/>
        </p:xfrm>
        <a:graphic>
          <a:graphicData uri="http://schemas.openxmlformats.org/drawingml/2006/table">
            <a:tbl>
              <a:tblPr/>
              <a:tblGrid>
                <a:gridCol w="340668"/>
                <a:gridCol w="2448272"/>
                <a:gridCol w="1886002"/>
                <a:gridCol w="1660499"/>
              </a:tblGrid>
              <a:tr h="203752">
                <a:tc>
                  <a:txBody>
                    <a:bodyPr/>
                    <a:lstStyle/>
                    <a:p>
                      <a:pPr algn="l"/>
                      <a:r>
                        <a:rPr lang="ru-RU" sz="700" b="0">
                          <a:effectLst/>
                          <a:latin typeface="quote-cjk-patch"/>
                        </a:rPr>
                        <a:t>Шаг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700" b="0">
                          <a:effectLst/>
                          <a:latin typeface="quote-cjk-patch"/>
                        </a:rPr>
                        <a:t>Действие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700" b="0">
                          <a:effectLst/>
                          <a:latin typeface="quote-cjk-patch"/>
                        </a:rPr>
                        <a:t>Ожидаемый результат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700" b="0">
                          <a:effectLst/>
                          <a:latin typeface="quote-cjk-patch"/>
                        </a:rPr>
                        <a:t>Скриншот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4889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1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Нажать кнопку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«Добавить»</a:t>
                      </a:r>
                      <a:endParaRPr lang="ru-RU" sz="700" b="0">
                        <a:effectLst/>
                        <a:latin typeface="quote-cjk-patch"/>
                      </a:endParaRP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Открывается форма «Добавление детали»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 i="1">
                          <a:effectLst/>
                          <a:latin typeface="quote-cjk-patch"/>
                        </a:rPr>
                        <a:t>Рисунок 5 из отчёта (окно добавления)</a:t>
                      </a:r>
                      <a:endParaRPr lang="ru-RU" sz="700" b="0">
                        <a:effectLst/>
                        <a:latin typeface="quote-cjk-patch"/>
                      </a:endParaRP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6026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2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Заполнить поле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«Наименование»</a:t>
                      </a:r>
                      <a:r>
                        <a:rPr lang="ru-RU" sz="700" b="0">
                          <a:effectLst/>
                          <a:latin typeface="quote-cjk-patch"/>
                        </a:rPr>
                        <a:t> (обязательно)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Введён текст (1–100 символов)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7163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3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Заполнить поле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«Номер детали»</a:t>
                      </a:r>
                      <a:r>
                        <a:rPr lang="ru-RU" sz="700" b="0">
                          <a:effectLst/>
                          <a:latin typeface="quote-cjk-patch"/>
                        </a:rPr>
                        <a:t> (обязательно, уникальный)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 dirty="0">
                          <a:effectLst/>
                          <a:latin typeface="quote-cjk-patch"/>
                        </a:rPr>
                        <a:t>Введён уникальный номер (1–30 символов)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 dirty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48301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4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Выбрать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«Тип»</a:t>
                      </a:r>
                      <a:r>
                        <a:rPr lang="ru-RU" sz="700" b="0">
                          <a:effectLst/>
                          <a:latin typeface="quote-cjk-patch"/>
                        </a:rPr>
                        <a:t> из выпадающего списка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Выбран один из 6 типов (Фюзеляж, Крыло, Двигатель, Шасси, Авионика, Другое)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6026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5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Выбрать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«Дату изготовления»</a:t>
                      </a:r>
                      <a:r>
                        <a:rPr lang="ru-RU" sz="700" b="0">
                          <a:effectLst/>
                          <a:latin typeface="quote-cjk-patch"/>
                        </a:rPr>
                        <a:t> (календарь)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Дата не больше текущей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14889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6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Выбрать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«Статус»</a:t>
                      </a:r>
                      <a:r>
                        <a:rPr lang="ru-RU" sz="700" b="0">
                          <a:effectLst/>
                          <a:latin typeface="quote-cjk-patch"/>
                        </a:rPr>
                        <a:t> из выпадающего списка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На складе / Установлена / Списана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7163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7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(Условно) Если статус = «Установлена» – заполнить поле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«Борт самолёта»</a:t>
                      </a:r>
                      <a:endParaRPr lang="ru-RU" sz="700" b="0">
                        <a:effectLst/>
                        <a:latin typeface="quote-cjk-patch"/>
                      </a:endParaRP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 dirty="0">
                          <a:effectLst/>
                          <a:latin typeface="quote-cjk-patch"/>
                        </a:rPr>
                        <a:t>Поле становится обязательным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6026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8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Заполнить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«Описание»</a:t>
                      </a:r>
                      <a:r>
                        <a:rPr lang="ru-RU" sz="700" b="0">
                          <a:effectLst/>
                          <a:latin typeface="quote-cjk-patch"/>
                        </a:rPr>
                        <a:t> (необязательно, до 500 символов)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Введён текст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–</a:t>
                      </a: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37163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9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Нажать кнопку </a:t>
                      </a:r>
                      <a:r>
                        <a:rPr lang="ru-RU" sz="700" b="1">
                          <a:effectLst/>
                          <a:latin typeface="quote-cjk-patch"/>
                        </a:rPr>
                        <a:t>«Сохранить»</a:t>
                      </a:r>
                      <a:endParaRPr lang="ru-RU" sz="700" b="0">
                        <a:effectLst/>
                        <a:latin typeface="quote-cjk-patch"/>
                      </a:endParaRP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Проверка валидации → если ошибок нет, деталь добавляется в таблицу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 i="1">
                          <a:effectLst/>
                          <a:latin typeface="quote-cjk-patch"/>
                        </a:rPr>
                        <a:t>Рисунок 5 – пример заполненной формы</a:t>
                      </a:r>
                      <a:endParaRPr lang="ru-RU" sz="700" b="0">
                        <a:effectLst/>
                        <a:latin typeface="quote-cjk-patch"/>
                      </a:endParaRP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6026"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10</a:t>
                      </a:r>
                    </a:p>
                  </a:txBody>
                  <a:tcPr marL="44455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При ошибке (пустое наименование/номер, дубликат номера)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>
                          <a:effectLst/>
                          <a:latin typeface="quote-cjk-patch"/>
                        </a:rPr>
                        <a:t>Появляется сообщение об ошибке, сохранение не происходит</a:t>
                      </a:r>
                    </a:p>
                  </a:txBody>
                  <a:tcPr marL="74092" marR="74092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700" b="0" i="1" dirty="0">
                          <a:effectLst/>
                          <a:latin typeface="quote-cjk-patch"/>
                        </a:rPr>
                        <a:t>Можно добавить скриншот сообщения об ошибке</a:t>
                      </a:r>
                      <a:endParaRPr lang="ru-RU" sz="700" b="0" dirty="0">
                        <a:effectLst/>
                        <a:latin typeface="quote-cjk-patch"/>
                      </a:endParaRPr>
                    </a:p>
                  </a:txBody>
                  <a:tcPr marL="74092" marR="44455" marT="46307" marB="46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1507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Разработка спецификаций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r>
              <a:rPr lang="ru-RU" sz="1600" b="0" dirty="0"/>
              <a:t>Описание структуры данных модуля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4410596" y="4068663"/>
            <a:ext cx="5328592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«Структура данных описана в классе </a:t>
            </a:r>
            <a:r>
              <a:rPr lang="ru-RU" i="1" dirty="0" err="1"/>
              <a:t>Part</a:t>
            </a:r>
            <a:r>
              <a:rPr lang="ru-RU" i="1" dirty="0"/>
              <a:t>, перечислениях </a:t>
            </a:r>
            <a:r>
              <a:rPr lang="ru-RU" i="1" dirty="0" err="1"/>
              <a:t>PartType</a:t>
            </a:r>
            <a:r>
              <a:rPr lang="ru-RU" i="1" dirty="0"/>
              <a:t> и </a:t>
            </a:r>
            <a:r>
              <a:rPr lang="ru-RU" i="1" dirty="0" err="1"/>
              <a:t>PartStatus</a:t>
            </a:r>
            <a:r>
              <a:rPr lang="ru-RU" i="1" dirty="0"/>
              <a:t>. Хранение – JSON</a:t>
            </a:r>
            <a:endParaRPr lang="ru-RU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" name="Рисунок 12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1836415"/>
            <a:ext cx="3999508" cy="4752528"/>
          </a:xfrm>
          <a:prstGeom prst="rect">
            <a:avLst/>
          </a:prstGeom>
        </p:spPr>
      </p:pic>
      <p:pic>
        <p:nvPicPr>
          <p:cNvPr id="14" name="Рисунок 13"/>
          <p:cNvPicPr/>
          <p:nvPr/>
        </p:nvPicPr>
        <p:blipFill>
          <a:blip r:embed="rId3"/>
          <a:stretch>
            <a:fillRect/>
          </a:stretch>
        </p:blipFill>
        <p:spPr>
          <a:xfrm>
            <a:off x="4122564" y="1853158"/>
            <a:ext cx="6264696" cy="1927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5961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82480" y="1348809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 smtClean="0">
                <a:solidFill>
                  <a:srgbClr val="E60000"/>
                </a:solidFill>
              </a:rPr>
              <a:t>Выбор языка программирования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51428" y="1908423"/>
            <a:ext cx="10241972" cy="10618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Выбран </a:t>
            </a:r>
            <a:r>
              <a:rPr lang="en-US" b="1" dirty="0"/>
              <a:t>C# (.NET 6) </a:t>
            </a:r>
            <a:r>
              <a:rPr lang="ru-RU" b="1" dirty="0"/>
              <a:t>в </a:t>
            </a:r>
            <a:r>
              <a:rPr lang="en-US" b="1" dirty="0"/>
              <a:t>Visual Studio </a:t>
            </a:r>
            <a:r>
              <a:rPr lang="en-US" b="1" dirty="0" smtClean="0"/>
              <a:t>202</a:t>
            </a:r>
            <a:r>
              <a:rPr lang="ru-RU" b="1" dirty="0" smtClean="0"/>
              <a:t>6.</a:t>
            </a:r>
            <a:r>
              <a:rPr lang="en-US" dirty="0"/>
              <a:t/>
            </a:r>
            <a:br>
              <a:rPr lang="en-US" dirty="0"/>
            </a:br>
            <a:r>
              <a:rPr lang="ru-RU" b="1" dirty="0"/>
              <a:t>Причины:</a:t>
            </a:r>
            <a:r>
              <a:rPr lang="ru-RU" dirty="0"/>
              <a:t> </a:t>
            </a:r>
            <a:r>
              <a:rPr lang="en-US" dirty="0"/>
              <a:t>Windows Forms, </a:t>
            </a:r>
            <a:r>
              <a:rPr lang="en-US" dirty="0" err="1"/>
              <a:t>Newtonsoft.Json</a:t>
            </a:r>
            <a:r>
              <a:rPr lang="en-US" dirty="0"/>
              <a:t>, </a:t>
            </a:r>
            <a:r>
              <a:rPr lang="ru-RU" dirty="0"/>
              <a:t>библиотека классов.</a:t>
            </a:r>
            <a:br>
              <a:rPr lang="ru-RU" dirty="0"/>
            </a:br>
            <a:r>
              <a:rPr lang="ru-RU" b="1" dirty="0" smtClean="0"/>
              <a:t>Рисунки: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499826" y="269887"/>
            <a:ext cx="9687193" cy="997196"/>
          </a:xfrm>
        </p:spPr>
        <p:txBody>
          <a:bodyPr/>
          <a:lstStyle/>
          <a:p>
            <a:r>
              <a:rPr lang="ru-RU" sz="3600" dirty="0"/>
              <a:t>Разработка кода </a:t>
            </a:r>
            <a:r>
              <a:rPr lang="ru-RU" sz="3600" dirty="0" smtClean="0"/>
              <a:t>программного модуля</a:t>
            </a:r>
            <a:endParaRPr lang="ru-RU" sz="3600" dirty="0"/>
          </a:p>
        </p:txBody>
      </p:sp>
      <p:pic>
        <p:nvPicPr>
          <p:cNvPr id="14" name="Рисунок 13"/>
          <p:cNvPicPr/>
          <p:nvPr/>
        </p:nvPicPr>
        <p:blipFill>
          <a:blip r:embed="rId2"/>
          <a:stretch>
            <a:fillRect/>
          </a:stretch>
        </p:blipFill>
        <p:spPr>
          <a:xfrm>
            <a:off x="2580" y="2970252"/>
            <a:ext cx="3869690" cy="4591011"/>
          </a:xfrm>
          <a:prstGeom prst="rect">
            <a:avLst/>
          </a:prstGeom>
        </p:spPr>
      </p:pic>
      <p:pic>
        <p:nvPicPr>
          <p:cNvPr id="15" name="Рисунок 14"/>
          <p:cNvPicPr/>
          <p:nvPr/>
        </p:nvPicPr>
        <p:blipFill>
          <a:blip r:embed="rId3"/>
          <a:stretch>
            <a:fillRect/>
          </a:stretch>
        </p:blipFill>
        <p:spPr>
          <a:xfrm>
            <a:off x="3553865" y="2970252"/>
            <a:ext cx="2368899" cy="4591011"/>
          </a:xfrm>
          <a:prstGeom prst="rect">
            <a:avLst/>
          </a:prstGeom>
        </p:spPr>
      </p:pic>
      <p:pic>
        <p:nvPicPr>
          <p:cNvPr id="8" name="Google Shape;2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2764" y="2970252"/>
            <a:ext cx="4770636" cy="354668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436052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82480" y="1348809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 smtClean="0">
                <a:solidFill>
                  <a:srgbClr val="E60000"/>
                </a:solidFill>
              </a:rPr>
              <a:t>Программирование модуля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499826" y="269887"/>
            <a:ext cx="9687193" cy="997196"/>
          </a:xfrm>
        </p:spPr>
        <p:txBody>
          <a:bodyPr/>
          <a:lstStyle/>
          <a:p>
            <a:r>
              <a:rPr lang="ru-RU" sz="3600" dirty="0"/>
              <a:t>Разработка кода </a:t>
            </a:r>
            <a:r>
              <a:rPr lang="ru-RU" sz="3600" dirty="0" smtClean="0"/>
              <a:t>программного модуля</a:t>
            </a:r>
            <a:endParaRPr lang="ru-RU" sz="3600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451428" y="1908423"/>
            <a:ext cx="9679616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dirty="0"/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-3278" y="1781573"/>
            <a:ext cx="10693400" cy="2677656"/>
          </a:xfrm>
          <a:prstGeom prst="rect">
            <a:avLst/>
          </a:prstGeom>
          <a:solidFill>
            <a:srgbClr val="EBEE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1.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Создать решение с двумя проектами в VS 2026 (библиотека классов + 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Windows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Forms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ru-RU" altLang="ru-RU" sz="2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2.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Разработать классы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,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PartType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,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PartStatus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репозиторий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JsonPartRepository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ru-RU" altLang="ru-RU" sz="2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3.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Создать формы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MainForm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и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PartEditForm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ru-RU" altLang="ru-RU" sz="2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4.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Реализовать CRUD, поиск, фильтр, проверку уникальности.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/>
            </a:r>
            <a:b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ru-RU" altLang="ru-RU" sz="2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5.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Подключить </a:t>
            </a:r>
            <a:r>
              <a:rPr kumimoji="0" lang="ru-RU" altLang="ru-RU" sz="2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Newtonsoft.Json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для работы с JSON.</a:t>
            </a:r>
            <a:r>
              <a:rPr kumimoji="0" lang="ru-RU" altLang="ru-RU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397472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82480" y="1348809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 smtClean="0">
                <a:solidFill>
                  <a:srgbClr val="E60000"/>
                </a:solidFill>
              </a:rPr>
              <a:t>Компиляция модуля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499826" y="269887"/>
            <a:ext cx="9687193" cy="997196"/>
          </a:xfrm>
        </p:spPr>
        <p:txBody>
          <a:bodyPr/>
          <a:lstStyle/>
          <a:p>
            <a:r>
              <a:rPr lang="ru-RU" sz="3600" dirty="0"/>
              <a:t>Разработка кода </a:t>
            </a:r>
            <a:r>
              <a:rPr lang="ru-RU" sz="3600" dirty="0" smtClean="0"/>
              <a:t>программного модуля</a:t>
            </a:r>
            <a:endParaRPr lang="ru-RU" sz="3600" dirty="0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1765450"/>
            <a:ext cx="10693400" cy="1889548"/>
          </a:xfrm>
          <a:prstGeom prst="rect">
            <a:avLst/>
          </a:prstGeom>
          <a:solidFill>
            <a:srgbClr val="EBEE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2677" rIns="0" bIns="112677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Компиляция модуля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Запустить 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Visual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Studio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2026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, открыть решение 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AircraftPartsSolution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 меню выбрать 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Build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→ 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Rebuild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(или нажать 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Ctrl+Shift+B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Дождаться завершения сборки. Убедиться, что в окне 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«Вывод»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появилось сообщение:</a:t>
            </a:r>
            <a:b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</a:b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Сборка: 2 успешно, 0 с ошибками, 0 изменено, 0 пропущено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/>
          <p:nvPr/>
        </p:nvPicPr>
        <p:blipFill>
          <a:blip r:embed="rId2"/>
          <a:stretch>
            <a:fillRect/>
          </a:stretch>
        </p:blipFill>
        <p:spPr>
          <a:xfrm>
            <a:off x="1210775" y="3736724"/>
            <a:ext cx="8265294" cy="254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12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82480" y="1348809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 smtClean="0">
                <a:solidFill>
                  <a:srgbClr val="E60000"/>
                </a:solidFill>
              </a:rPr>
              <a:t>Отладка модуля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499826" y="269887"/>
            <a:ext cx="9687193" cy="997196"/>
          </a:xfrm>
        </p:spPr>
        <p:txBody>
          <a:bodyPr/>
          <a:lstStyle/>
          <a:p>
            <a:r>
              <a:rPr lang="ru-RU" sz="3600" dirty="0"/>
              <a:t>Разработка кода </a:t>
            </a:r>
            <a:r>
              <a:rPr lang="ru-RU" sz="3600" dirty="0" smtClean="0"/>
              <a:t>программного модуля</a:t>
            </a:r>
            <a:endParaRPr lang="ru-RU" sz="3600" dirty="0"/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1" y="1765450"/>
            <a:ext cx="10693399" cy="29359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2677" rIns="0" bIns="112677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Установить </a:t>
            </a: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точку останова (</a:t>
            </a:r>
            <a:r>
              <a:rPr kumimoji="0" lang="ru-RU" altLang="ru-RU" sz="16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breakpoint</a:t>
            </a: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в коде, например, в методе </a:t>
            </a:r>
            <a:r>
              <a:rPr kumimoji="0" lang="ru-RU" altLang="ru-RU" sz="16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BtnSave_Click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на строке проверки уникальности номера детали (</a:t>
            </a:r>
            <a:r>
              <a:rPr kumimoji="0" lang="ru-RU" altLang="ru-RU" sz="16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if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(</a:t>
            </a:r>
            <a:r>
              <a:rPr kumimoji="0" lang="ru-RU" altLang="ru-RU" sz="16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Part.Id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== 0)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Запустить отладку, нажав </a:t>
            </a: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F5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(или кнопку «Старт»).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Выполнить действие, которое должно привести к срабатыванию точки останова (например, попробовать добавить новую деталь).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Когда выполнение остановится (строка станет жёлтой), проверить значения переменных, наведя курсор мыши (например, </a:t>
            </a:r>
            <a:r>
              <a:rPr kumimoji="0" lang="ru-RU" altLang="ru-RU" sz="16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txtPartNumber.Text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Используя клавиши </a:t>
            </a: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F10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(шаг с обходом) и </a:t>
            </a:r>
            <a:r>
              <a:rPr kumimoji="0" lang="ru-RU" altLang="ru-RU" sz="16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F11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(шаг с заходом), проследить дальнейшее выполнение кода.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Завершить отладку (Shift+F5) или продолжить выполнение (F5).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4684002"/>
            <a:ext cx="873107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Что проверялось в процессе отладки:</a:t>
            </a:r>
            <a:endParaRPr lang="ru-RU" sz="1600" dirty="0">
              <a:solidFill>
                <a:srgbClr val="0F1115"/>
              </a:solidFill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0F1115"/>
                </a:solidFill>
                <a:latin typeface="quote-cjk-patch"/>
              </a:rPr>
              <a:t>Корректность проверки уникальности номера детали.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0F1115"/>
                </a:solidFill>
                <a:latin typeface="quote-cjk-patch"/>
              </a:rPr>
              <a:t>Правильность активации поля «Борт самолёта» при выборе статуса «Установлена».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0F1115"/>
                </a:solidFill>
                <a:latin typeface="quote-cjk-patch"/>
              </a:rPr>
              <a:t>Сохранение данных в </a:t>
            </a:r>
            <a:r>
              <a:rPr lang="ru-RU" sz="1600" dirty="0" err="1">
                <a:solidFill>
                  <a:srgbClr val="0F1115"/>
                </a:solidFill>
                <a:latin typeface="quote-cjk-patch"/>
              </a:rPr>
              <a:t>репозиторий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и обновление таблицы.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3849310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Тестирование программного модуля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/>
              <a:t>Разработка тестовых сценариев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-62954" y="1692399"/>
            <a:ext cx="8145958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Последовательность выполненных действий</a:t>
            </a:r>
          </a:p>
          <a:p>
            <a:pPr>
              <a:buFont typeface="+mj-lt"/>
              <a:buAutoNum type="arabicPeriod"/>
            </a:pPr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Анализ функциональных требований</a:t>
            </a:r>
            <a:r>
              <a:rPr lang="ru-RU" sz="1400" dirty="0">
                <a:solidFill>
                  <a:srgbClr val="0F1115"/>
                </a:solidFill>
                <a:latin typeface="quote-cjk-patch"/>
              </a:rPr>
              <a:t> – выделены основные операции: добавление, редактирование, удаление, поиск, фильтрация, проверка уникальности.</a:t>
            </a:r>
          </a:p>
          <a:p>
            <a:pPr>
              <a:buFont typeface="+mj-lt"/>
              <a:buAutoNum type="arabicPeriod"/>
            </a:pPr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Составление перечня тест-кейсов</a:t>
            </a:r>
            <a:r>
              <a:rPr lang="ru-RU" sz="1400" dirty="0">
                <a:solidFill>
                  <a:srgbClr val="0F1115"/>
                </a:solidFill>
                <a:latin typeface="quote-cjk-patch"/>
              </a:rPr>
              <a:t> – для каждой функции определены нормальные и аномальные сценарии (всего 10 тестов).</a:t>
            </a:r>
          </a:p>
          <a:p>
            <a:pPr>
              <a:buFont typeface="+mj-lt"/>
              <a:buAutoNum type="arabicPeriod"/>
            </a:pPr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Документирование сценариев</a:t>
            </a:r>
            <a:r>
              <a:rPr lang="ru-RU" sz="1400" dirty="0">
                <a:solidFill>
                  <a:srgbClr val="0F1115"/>
                </a:solidFill>
                <a:latin typeface="quote-cjk-patch"/>
              </a:rPr>
              <a:t> – оформлена таблица с колонками: ID, сценарий, ожидаемый результат, фактический результат (см. </a:t>
            </a:r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Таблица 4</a:t>
            </a:r>
            <a:r>
              <a:rPr lang="ru-RU" sz="1400" dirty="0">
                <a:solidFill>
                  <a:srgbClr val="0F1115"/>
                </a:solidFill>
                <a:latin typeface="quote-cjk-patch"/>
              </a:rPr>
              <a:t> в отчёте).</a:t>
            </a:r>
          </a:p>
          <a:p>
            <a:pPr>
              <a:buFont typeface="+mj-lt"/>
              <a:buAutoNum type="arabicPeriod"/>
            </a:pPr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Ручное выполнение тестов</a:t>
            </a:r>
            <a:r>
              <a:rPr lang="ru-RU" sz="1400" dirty="0">
                <a:solidFill>
                  <a:srgbClr val="0F1115"/>
                </a:solidFill>
                <a:latin typeface="quote-cjk-patch"/>
              </a:rPr>
              <a:t> – поочерёдно запускалось приложение, выполнялись шаги, фиксировался результат.</a:t>
            </a:r>
          </a:p>
          <a:p>
            <a:pPr>
              <a:buFont typeface="+mj-lt"/>
              <a:buAutoNum type="arabicPeriod"/>
            </a:pPr>
            <a:r>
              <a:rPr lang="ru-RU" sz="1400" b="1" dirty="0">
                <a:solidFill>
                  <a:srgbClr val="0F1115"/>
                </a:solidFill>
                <a:latin typeface="quote-cjk-patch"/>
              </a:rPr>
              <a:t>Оценка результатов</a:t>
            </a:r>
            <a:r>
              <a:rPr lang="ru-RU" sz="1400" dirty="0">
                <a:solidFill>
                  <a:srgbClr val="0F1115"/>
                </a:solidFill>
                <a:latin typeface="quote-cjk-patch"/>
              </a:rPr>
              <a:t> – все обязательные сценарии пройдены успешно (зелёная отметка).</a:t>
            </a:r>
            <a:endParaRPr lang="ru-RU" sz="14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279889"/>
              </p:ext>
            </p:extLst>
          </p:nvPr>
        </p:nvGraphicFramePr>
        <p:xfrm>
          <a:off x="0" y="4818642"/>
          <a:ext cx="9217023" cy="2849880"/>
        </p:xfrm>
        <a:graphic>
          <a:graphicData uri="http://schemas.openxmlformats.org/drawingml/2006/table">
            <a:tbl>
              <a:tblPr/>
              <a:tblGrid>
                <a:gridCol w="864096"/>
                <a:gridCol w="4176464"/>
                <a:gridCol w="4176463"/>
              </a:tblGrid>
              <a:tr h="253320">
                <a:tc>
                  <a:txBody>
                    <a:bodyPr/>
                    <a:lstStyle/>
                    <a:p>
                      <a:pPr algn="l"/>
                      <a:r>
                        <a:rPr lang="en-US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ID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Сценарий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Ожидаемый результат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739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TC-1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Добавление детали с корректными данными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Деталь появляется в таблице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3320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TC-2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Добавление с пустым наименованием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Сообщение об ошибке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7396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TC-3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Добавление с существующим номером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Сообщение «Деталь с таким номером уже существует»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739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TC-4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Поиск по номеру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Таблица показывает только найденную деталь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377396">
                <a:tc>
                  <a:txBody>
                    <a:bodyPr/>
                    <a:lstStyle/>
                    <a:p>
                      <a:r>
                        <a:rPr lang="en-US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TC-5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Фильтр «На складе»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Показаны только детали со статусом «На складе»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ectangle 1"/>
          <p:cNvSpPr>
            <a:spLocks noChangeArrowheads="1"/>
          </p:cNvSpPr>
          <p:nvPr/>
        </p:nvSpPr>
        <p:spPr bwMode="auto">
          <a:xfrm>
            <a:off x="0" y="3944756"/>
            <a:ext cx="7757864" cy="87388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2677" rIns="0" bIns="112677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Таблица 4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– скриншот таблицы тестовых сценариев из отчёта (или сама таблица, вставленная в слайд).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Пример тестовых сценариев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8957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Тестирование программного модуля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 smtClean="0"/>
              <a:t>Модульное тестирование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24" y="2123906"/>
            <a:ext cx="10693276" cy="41055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12677" rIns="0" bIns="112677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Последовательность выполненных действий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Установить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фреймворк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kumimoji="0" lang="ru-RU" altLang="ru-RU" sz="18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NUnit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и 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NUnit3TestAdapter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через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NuGet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в проект тестирования (или в проект 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AircraftPartsLibrary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Написать тестовый класс с методом, проверяющим метод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репозитория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GetByPartNumber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csharp</a:t>
            </a: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rgbClr val="383A42"/>
              </a:solidFill>
              <a:effectLst/>
              <a:latin typeface="Menl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B76B01"/>
                </a:solidFill>
                <a:effectLst/>
                <a:latin typeface="Menlo"/>
              </a:rPr>
              <a:t>Test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GetByPartNumber_Existing_ReturnsPart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A626A4"/>
                </a:solidFill>
                <a:effectLst/>
                <a:latin typeface="Menlo"/>
              </a:rPr>
              <a:t>var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repo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B76B01"/>
                </a:solidFill>
                <a:effectLst/>
                <a:latin typeface="Menlo"/>
              </a:rPr>
              <a:t>JsonPartRepository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50A14F"/>
                </a:solidFill>
                <a:effectLst/>
                <a:latin typeface="Menlo"/>
              </a:rPr>
              <a:t>"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50A14F"/>
                </a:solidFill>
                <a:effectLst/>
                <a:latin typeface="Menlo"/>
              </a:rPr>
              <a:t>test.json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50A14F"/>
                </a:solidFill>
                <a:effectLst/>
                <a:latin typeface="Menlo"/>
              </a:rPr>
              <a:t>"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);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A626A4"/>
                </a:solidFill>
                <a:effectLst/>
                <a:latin typeface="Menlo"/>
              </a:rPr>
              <a:t>var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repo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GetByPartNumber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50A14F"/>
                </a:solidFill>
                <a:effectLst/>
                <a:latin typeface="Menlo"/>
              </a:rPr>
              <a:t>"КГ-112-05"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);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Assert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IsNotNull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part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);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Запустить тесты через меню 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Тест → Запустить все тесты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(или 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Ctrl+R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, A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Проверить результат в </a:t>
            </a:r>
            <a:r>
              <a:rPr kumimoji="0" lang="ru-RU" altLang="ru-RU" sz="18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Обозревателе тестов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Test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kumimoji="0" lang="ru-RU" altLang="ru-RU" sz="18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Explorer</a:t>
            </a:r>
            <a:r>
              <a:rPr kumimoji="0" lang="ru-RU" altLang="ru-RU" sz="18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): все тесты должны быть зелёными (пройдены </a:t>
            </a: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успешно).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834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 smtClean="0"/>
              <a:t>Тестирование программного модуля</a:t>
            </a:r>
            <a:endParaRPr lang="ru-RU" sz="36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306140" y="1044327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 smtClean="0"/>
              <a:t>Тестирование производительности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-26950" y="1498979"/>
            <a:ext cx="10720350" cy="332205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Последовательность выполненных действий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В коде метода 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MainForm.LoadParts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()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(или в отдельном тестовом методе) добавить замер времени с помощью класса 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Stopwatch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csharp</a:t>
            </a:r>
            <a:endParaRPr kumimoji="0" lang="ru-RU" altLang="ru-RU" sz="1400" b="0" i="0" u="none" strike="noStrike" cap="none" normalizeH="0" baseline="0" dirty="0" smtClean="0">
              <a:ln>
                <a:noFill/>
              </a:ln>
              <a:solidFill>
                <a:srgbClr val="A626A4"/>
              </a:solidFill>
              <a:effectLst/>
              <a:latin typeface="Menl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A626A4"/>
                </a:solidFill>
                <a:effectLst/>
                <a:latin typeface="Menlo"/>
              </a:rPr>
              <a:t>using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System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Diagnostics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B76B01"/>
                </a:solidFill>
                <a:effectLst/>
                <a:latin typeface="Menlo"/>
              </a:rPr>
              <a:t>Stopwatch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sw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Stopwatch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StartNew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();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1" u="none" strike="noStrike" cap="none" normalizeH="0" baseline="0" dirty="0" smtClean="0">
                <a:ln>
                  <a:noFill/>
                </a:ln>
                <a:solidFill>
                  <a:schemeClr val="accent6"/>
                </a:solidFill>
                <a:effectLst/>
                <a:latin typeface="Menlo"/>
              </a:rPr>
              <a:t>// ... загрузка 1000 записей в </a:t>
            </a:r>
            <a:r>
              <a:rPr kumimoji="0" lang="ru-RU" altLang="ru-RU" sz="1400" b="0" i="1" u="none" strike="noStrike" cap="none" normalizeH="0" baseline="0" dirty="0" err="1" smtClean="0">
                <a:ln>
                  <a:noFill/>
                </a:ln>
                <a:solidFill>
                  <a:schemeClr val="accent6"/>
                </a:solidFill>
                <a:effectLst/>
                <a:latin typeface="Menlo"/>
              </a:rPr>
              <a:t>DataGridView</a:t>
            </a:r>
            <a:r>
              <a:rPr kumimoji="0" lang="ru-RU" altLang="ru-RU" sz="1400" b="0" i="1" u="none" strike="noStrike" cap="none" normalizeH="0" baseline="0" dirty="0" smtClean="0">
                <a:ln>
                  <a:noFill/>
                </a:ln>
                <a:solidFill>
                  <a:schemeClr val="accent6"/>
                </a:solidFill>
                <a:effectLst/>
                <a:latin typeface="Menlo"/>
              </a:rPr>
              <a:t> ...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chemeClr val="accent6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sw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Stop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();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Debug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4078F2"/>
                </a:solidFill>
                <a:effectLst/>
                <a:latin typeface="Menlo"/>
              </a:rPr>
              <a:t>WriteLine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50A14F"/>
                </a:solidFill>
                <a:effectLst/>
                <a:latin typeface="Menlo"/>
              </a:rPr>
              <a:t>$"Загрузка 1000 записей: 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sw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Elapsed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TotalSeconds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: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F2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50A14F"/>
                </a:solidFill>
                <a:effectLst/>
                <a:latin typeface="Menlo"/>
              </a:rPr>
              <a:t> с"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383A42"/>
                </a:solidFill>
                <a:effectLst/>
                <a:latin typeface="Menlo"/>
              </a:rPr>
              <a:t>);</a:t>
            </a:r>
            <a:endParaRPr kumimoji="0" lang="ru-RU" alt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Создать тестовые данные (1000 записей) – либо сгенерировать циклом, либо загрузить из файла.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Запустить приложение в режиме отладки (F5).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После выполнения операции просмотреть вывод в окне </a:t>
            </a:r>
            <a:r>
              <a:rPr kumimoji="0" lang="ru-RU" alt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«Вывод» (</a:t>
            </a:r>
            <a:r>
              <a:rPr kumimoji="0" lang="ru-RU" altLang="ru-RU" sz="1400" b="1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Output</a:t>
            </a:r>
            <a:r>
              <a:rPr kumimoji="0" lang="ru-RU" alt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Visual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Studio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(или в консоли, если используется 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Console.WriteLine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Повторить замеры для операций: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Поиск по номеру среди 1000 записей.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Сохранение 1000 записей в JSON (вызов </a:t>
            </a:r>
            <a:r>
              <a:rPr kumimoji="0" lang="ru-RU" altLang="ru-RU" sz="1400" b="0" i="0" u="none" strike="noStrike" cap="none" normalizeH="0" baseline="0" dirty="0" err="1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SaveData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()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Зафиксировать результаты в таблице (см. </a:t>
            </a:r>
            <a:r>
              <a:rPr kumimoji="0" lang="ru-RU" altLang="ru-RU" sz="14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Таблица 5</a:t>
            </a:r>
            <a:r>
              <a:rPr kumimoji="0" lang="ru-RU" altLang="ru-RU" sz="1400" b="0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отчёта).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0328276"/>
              </p:ext>
            </p:extLst>
          </p:nvPr>
        </p:nvGraphicFramePr>
        <p:xfrm>
          <a:off x="-45206" y="5182809"/>
          <a:ext cx="7173850" cy="1493520"/>
        </p:xfrm>
        <a:graphic>
          <a:graphicData uri="http://schemas.openxmlformats.org/drawingml/2006/table">
            <a:tbl>
              <a:tblPr/>
              <a:tblGrid>
                <a:gridCol w="3586925"/>
                <a:gridCol w="3586925"/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sz="12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Операция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Время выполнения</a:t>
                      </a:r>
                    </a:p>
                  </a:txBody>
                  <a:tcPr marL="152400"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Загрузка 1000 записей в DataGridView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0,2 с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Поиск по номеру среди 1000 записей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&lt;0,05 с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Сохранение 1000 записей в JSON</a:t>
                      </a:r>
                    </a:p>
                  </a:txBody>
                  <a:tcPr marR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E60000"/>
                          </a:solidFill>
                          <a:effectLst/>
                          <a:latin typeface="quote-cjk-patch"/>
                        </a:rPr>
                        <a:t>0,1 с</a:t>
                      </a:r>
                    </a:p>
                  </a:txBody>
                  <a:tcPr marL="1524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ectangle 2"/>
          <p:cNvSpPr>
            <a:spLocks noChangeArrowheads="1"/>
          </p:cNvSpPr>
          <p:nvPr/>
        </p:nvSpPr>
        <p:spPr bwMode="auto">
          <a:xfrm>
            <a:off x="-26950" y="4877672"/>
            <a:ext cx="4797586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200" b="1" i="0" u="none" strike="noStrike" cap="none" normalizeH="0" baseline="0" dirty="0" smtClean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Таблица 5 – Результаты тестирования производительности</a:t>
            </a:r>
            <a:endParaRPr kumimoji="0" lang="ru-RU" altLang="ru-RU" sz="7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127384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0719AA99-22D7-45B3-8069-6E1FEDD93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428" y="441062"/>
            <a:ext cx="9687193" cy="498598"/>
          </a:xfrm>
        </p:spPr>
        <p:txBody>
          <a:bodyPr/>
          <a:lstStyle/>
          <a:p>
            <a:r>
              <a:rPr lang="ru-RU" sz="3600" dirty="0"/>
              <a:t>Тестирование программного модуля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BAEFEFB4-3051-4D7E-8463-CA0C39CDE64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98744" y="1213775"/>
            <a:ext cx="9824904" cy="334915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ru-RU" sz="1700" b="0" dirty="0"/>
              <a:t>Загрузка программного модуля в </a:t>
            </a:r>
            <a:r>
              <a:rPr lang="ru-RU" sz="1700" b="0" dirty="0" err="1" smtClean="0"/>
              <a:t>репозиторий</a:t>
            </a:r>
            <a:r>
              <a:rPr lang="ru-RU" sz="1700" b="0" dirty="0" smtClean="0"/>
              <a:t> </a:t>
            </a:r>
            <a:r>
              <a:rPr lang="en-US" sz="1700" b="0" dirty="0" smtClean="0">
                <a:solidFill>
                  <a:srgbClr val="E60000"/>
                </a:solidFill>
              </a:rPr>
              <a:t>GitHub</a:t>
            </a:r>
            <a:endParaRPr lang="ru-RU" sz="1700" b="0" dirty="0">
              <a:solidFill>
                <a:srgbClr val="E60000"/>
              </a:solidFill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02967" y="1980431"/>
            <a:ext cx="9616457" cy="24314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4988" lvl="0" indent="-534988" algn="just">
              <a:spcAft>
                <a:spcPts val="0"/>
              </a:spcAft>
              <a:buFont typeface="+mj-lt"/>
              <a:buAutoNum type="arabicPeriod"/>
            </a:pPr>
            <a:r>
              <a:rPr lang="ru-RU" sz="1900" dirty="0"/>
              <a:t>Создать удаленный </a:t>
            </a:r>
            <a:r>
              <a:rPr lang="ru-RU" sz="1900" dirty="0" err="1"/>
              <a:t>репозиторий</a:t>
            </a:r>
            <a:r>
              <a:rPr lang="ru-RU" sz="1900" dirty="0"/>
              <a:t> на </a:t>
            </a:r>
            <a:r>
              <a:rPr lang="en-US" sz="1900" dirty="0" smtClean="0"/>
              <a:t>GitHu</a:t>
            </a:r>
            <a:r>
              <a:rPr lang="en-US" sz="1900" dirty="0"/>
              <a:t>b</a:t>
            </a:r>
            <a:endParaRPr lang="ru-RU" sz="1900" dirty="0"/>
          </a:p>
          <a:p>
            <a:pPr marL="534988" lvl="0" indent="-534988" algn="just">
              <a:spcAft>
                <a:spcPts val="0"/>
              </a:spcAft>
              <a:buFont typeface="+mj-lt"/>
              <a:buAutoNum type="arabicPeriod"/>
            </a:pPr>
            <a:r>
              <a:rPr lang="ru-RU" sz="1900" dirty="0"/>
              <a:t>Перейти в папку с проектами практики и инициализировать новый </a:t>
            </a:r>
            <a:r>
              <a:rPr lang="ru-RU" sz="1900" dirty="0" err="1"/>
              <a:t>репозиторий</a:t>
            </a:r>
            <a:endParaRPr lang="ru-RU" sz="1900" dirty="0"/>
          </a:p>
          <a:p>
            <a:pPr marL="534988" lvl="0" indent="-534988" algn="just">
              <a:spcAft>
                <a:spcPts val="0"/>
              </a:spcAft>
              <a:buFont typeface="+mj-lt"/>
              <a:buAutoNum type="arabicPeriod"/>
            </a:pPr>
            <a:r>
              <a:rPr lang="ru-RU" sz="1900" dirty="0"/>
              <a:t>Добавить проекты в индекс и осуществить первый </a:t>
            </a:r>
            <a:r>
              <a:rPr lang="ru-RU" sz="1900" dirty="0" err="1"/>
              <a:t>коммит</a:t>
            </a:r>
            <a:r>
              <a:rPr lang="ru-RU" sz="1900" dirty="0"/>
              <a:t> изменений</a:t>
            </a:r>
          </a:p>
          <a:p>
            <a:pPr marL="534988" lvl="0" indent="-534988" algn="just">
              <a:spcAft>
                <a:spcPts val="0"/>
              </a:spcAft>
              <a:buFont typeface="+mj-lt"/>
              <a:buAutoNum type="arabicPeriod"/>
            </a:pPr>
            <a:r>
              <a:rPr lang="ru-RU" sz="1900" dirty="0"/>
              <a:t>Добавить локальному </a:t>
            </a:r>
            <a:r>
              <a:rPr lang="ru-RU" sz="1900" dirty="0" err="1"/>
              <a:t>репозиторию</a:t>
            </a:r>
            <a:r>
              <a:rPr lang="ru-RU" sz="1900" dirty="0"/>
              <a:t> ссылку на удаленный </a:t>
            </a:r>
            <a:r>
              <a:rPr lang="ru-RU" sz="1900" dirty="0" err="1"/>
              <a:t>репозиторий</a:t>
            </a:r>
            <a:r>
              <a:rPr lang="ru-RU" sz="1900" dirty="0"/>
              <a:t>, после чего сделать команду </a:t>
            </a:r>
            <a:r>
              <a:rPr lang="ru-RU" sz="1900" dirty="0" err="1"/>
              <a:t>push</a:t>
            </a:r>
            <a:r>
              <a:rPr lang="ru-RU" sz="1900" dirty="0"/>
              <a:t> в удаленный </a:t>
            </a:r>
            <a:r>
              <a:rPr lang="ru-RU" sz="1900" dirty="0" err="1"/>
              <a:t>репозиторий</a:t>
            </a:r>
            <a:r>
              <a:rPr lang="ru-RU" sz="1900" dirty="0"/>
              <a:t> </a:t>
            </a:r>
            <a:r>
              <a:rPr lang="ru-RU" sz="1900" dirty="0" err="1"/>
              <a:t>git</a:t>
            </a:r>
            <a:r>
              <a:rPr lang="ru-RU" sz="1900" dirty="0"/>
              <a:t> </a:t>
            </a:r>
            <a:r>
              <a:rPr lang="ru-RU" sz="1900" dirty="0" err="1"/>
              <a:t>push</a:t>
            </a:r>
            <a:r>
              <a:rPr lang="ru-RU" sz="1900" dirty="0"/>
              <a:t> </a:t>
            </a:r>
            <a:r>
              <a:rPr lang="ru-RU" sz="1900" dirty="0" err="1"/>
              <a:t>origin</a:t>
            </a:r>
            <a:r>
              <a:rPr lang="ru-RU" sz="1900" dirty="0"/>
              <a:t> </a:t>
            </a:r>
            <a:r>
              <a:rPr lang="ru-RU" sz="1900" dirty="0" err="1" smtClean="0"/>
              <a:t>master</a:t>
            </a:r>
            <a:r>
              <a:rPr lang="en-US" sz="1900" dirty="0" smtClean="0"/>
              <a:t>(main)</a:t>
            </a:r>
            <a:r>
              <a:rPr lang="ru-RU" sz="1900" dirty="0" smtClean="0"/>
              <a:t>, </a:t>
            </a:r>
            <a:r>
              <a:rPr lang="ru-RU" sz="1900" dirty="0"/>
              <a:t>тем самым отправив локальную ветку </a:t>
            </a:r>
            <a:r>
              <a:rPr lang="ru-RU" sz="1900" dirty="0" err="1"/>
              <a:t>master</a:t>
            </a:r>
            <a:r>
              <a:rPr lang="ru-RU" sz="1900" dirty="0"/>
              <a:t> на сервер </a:t>
            </a:r>
            <a:r>
              <a:rPr lang="ru-RU" sz="1900" dirty="0" err="1"/>
              <a:t>origin</a:t>
            </a:r>
            <a:endParaRPr lang="ru-RU" sz="1900" dirty="0"/>
          </a:p>
          <a:p>
            <a:pPr marL="534988" lvl="0" indent="-534988" algn="just">
              <a:spcAft>
                <a:spcPts val="0"/>
              </a:spcAft>
              <a:buFont typeface="+mj-lt"/>
              <a:buAutoNum type="arabicPeriod"/>
            </a:pPr>
            <a:r>
              <a:rPr lang="ru-RU" sz="1900" dirty="0"/>
              <a:t>Продемонстрировать добавленные файлы на </a:t>
            </a:r>
            <a:r>
              <a:rPr lang="en-US" sz="1900" dirty="0" smtClean="0"/>
              <a:t>GitHub</a:t>
            </a:r>
            <a:endParaRPr lang="ru-RU" sz="1900" dirty="0" smtClean="0"/>
          </a:p>
          <a:p>
            <a:pPr marL="534988" lvl="0" indent="-534988" algn="just">
              <a:spcAft>
                <a:spcPts val="0"/>
              </a:spcAft>
              <a:buFont typeface="+mj-lt"/>
              <a:buAutoNum type="arabicPeriod"/>
            </a:pPr>
            <a:endParaRPr lang="ru-RU" sz="1900" dirty="0"/>
          </a:p>
        </p:txBody>
      </p:sp>
      <p:sp>
        <p:nvSpPr>
          <p:cNvPr id="3" name="TextBox 2"/>
          <p:cNvSpPr txBox="1"/>
          <p:nvPr/>
        </p:nvSpPr>
        <p:spPr>
          <a:xfrm>
            <a:off x="234132" y="6804967"/>
            <a:ext cx="83529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1" u="sng" dirty="0" smtClean="0">
                <a:solidFill>
                  <a:srgbClr val="FF0000"/>
                </a:solidFill>
              </a:rPr>
              <a:t>Ссылка на </a:t>
            </a:r>
            <a:r>
              <a:rPr lang="ru-RU" b="1" i="1" u="sng" dirty="0" err="1" smtClean="0">
                <a:solidFill>
                  <a:srgbClr val="FF0000"/>
                </a:solidFill>
              </a:rPr>
              <a:t>репозиторий</a:t>
            </a:r>
            <a:r>
              <a:rPr lang="en-US" b="1" i="1" u="sng" dirty="0">
                <a:solidFill>
                  <a:srgbClr val="FF0000"/>
                </a:solidFill>
              </a:rPr>
              <a:t>: </a:t>
            </a:r>
            <a:r>
              <a:rPr lang="en-US" b="1" i="1" u="sng" dirty="0">
                <a:solidFill>
                  <a:srgbClr val="0070C0"/>
                </a:solidFill>
              </a:rPr>
              <a:t>https://github.com/Vida-jiest/AircraftPartsManager.git</a:t>
            </a:r>
            <a:endParaRPr lang="ru-RU" b="1" i="1" u="sng" dirty="0">
              <a:solidFill>
                <a:srgbClr val="0070C0"/>
              </a:solidFill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28" y="4140671"/>
            <a:ext cx="7269324" cy="23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676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8AD8984-A38D-4E8D-95B8-FFA4856CB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673" y="595916"/>
            <a:ext cx="9687193" cy="498598"/>
          </a:xfrm>
        </p:spPr>
        <p:txBody>
          <a:bodyPr/>
          <a:lstStyle/>
          <a:p>
            <a:r>
              <a:rPr lang="ru-RU" sz="3600" dirty="0"/>
              <a:t>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6825" y="1764408"/>
            <a:ext cx="10710225" cy="4824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/>
              <a:t>1. </a:t>
            </a:r>
            <a:r>
              <a:rPr lang="ru-RU" sz="2000" b="1" dirty="0" smtClean="0"/>
              <a:t>Разработана </a:t>
            </a:r>
            <a:r>
              <a:rPr lang="ru-RU" sz="2000" b="1" dirty="0"/>
              <a:t>полнофункциональная информационная система</a:t>
            </a:r>
            <a:r>
              <a:rPr lang="ru-RU" sz="2000" dirty="0"/>
              <a:t> учёта деталей самолётов на языке C# с использованием </a:t>
            </a:r>
            <a:r>
              <a:rPr lang="ru-RU" sz="2000" dirty="0" err="1"/>
              <a:t>Windows</a:t>
            </a:r>
            <a:r>
              <a:rPr lang="ru-RU" sz="2000" dirty="0"/>
              <a:t> </a:t>
            </a:r>
            <a:r>
              <a:rPr lang="ru-RU" sz="2000" dirty="0" err="1"/>
              <a:t>Forms</a:t>
            </a:r>
            <a:r>
              <a:rPr lang="ru-RU" sz="2000" dirty="0"/>
              <a:t>, библиотеки классов и JSON-хранилища. Система полностью соответствует требованиям АО «Концерн КЭМЗ».</a:t>
            </a:r>
          </a:p>
          <a:p>
            <a:r>
              <a:rPr lang="en-US" sz="2000" b="1" dirty="0" smtClean="0"/>
              <a:t>2. </a:t>
            </a:r>
            <a:r>
              <a:rPr lang="ru-RU" sz="2000" b="1" dirty="0" smtClean="0"/>
              <a:t>Автоматизированы </a:t>
            </a:r>
            <a:r>
              <a:rPr lang="ru-RU" sz="2000" b="1" dirty="0"/>
              <a:t>основные бизнес-процессы</a:t>
            </a:r>
            <a:r>
              <a:rPr lang="ru-RU" sz="2000" dirty="0"/>
              <a:t> подразделения: добавление, редактирование, удаление, поиск, фильтрация по статусу (на складе / установлена / списана), а также статистика и экспорт в CSV.</a:t>
            </a:r>
          </a:p>
          <a:p>
            <a:r>
              <a:rPr lang="en-US" sz="2000" b="1" dirty="0" smtClean="0"/>
              <a:t>3. </a:t>
            </a:r>
            <a:r>
              <a:rPr lang="ru-RU" sz="2000" b="1" dirty="0" smtClean="0"/>
              <a:t>Обеспечена </a:t>
            </a:r>
            <a:r>
              <a:rPr lang="ru-RU" sz="2000" b="1" dirty="0"/>
              <a:t>надёжность хранения данных</a:t>
            </a:r>
            <a:r>
              <a:rPr lang="ru-RU" sz="2000" dirty="0"/>
              <a:t> благодаря </a:t>
            </a:r>
            <a:r>
              <a:rPr lang="ru-RU" sz="2000" dirty="0" err="1"/>
              <a:t>сериализации</a:t>
            </a:r>
            <a:r>
              <a:rPr lang="ru-RU" sz="2000" dirty="0"/>
              <a:t> в JSON с </a:t>
            </a:r>
            <a:r>
              <a:rPr lang="ru-RU" sz="2000" dirty="0" err="1"/>
              <a:t>автосохранением</a:t>
            </a:r>
            <a:r>
              <a:rPr lang="ru-RU" sz="2000" dirty="0"/>
              <a:t> после каждого изменения и проверкой уникальности номера детали, что исключает дублирование записей.</a:t>
            </a:r>
          </a:p>
          <a:p>
            <a:r>
              <a:rPr lang="en-US" sz="2000" b="1" dirty="0" smtClean="0"/>
              <a:t>4. </a:t>
            </a:r>
            <a:r>
              <a:rPr lang="ru-RU" sz="2000" b="1" dirty="0" smtClean="0"/>
              <a:t>Создан </a:t>
            </a:r>
            <a:r>
              <a:rPr lang="ru-RU" sz="2000" b="1" dirty="0"/>
              <a:t>удобный русскоязычный интерфейс</a:t>
            </a:r>
            <a:r>
              <a:rPr lang="ru-RU" sz="2000" dirty="0"/>
              <a:t> с горячими клавишами, контекстным меню и интуитивно понятными формами, что снижает время работы сотрудников и вероятность ошибок.</a:t>
            </a:r>
          </a:p>
          <a:p>
            <a:r>
              <a:rPr lang="en-US" sz="2000" b="1" dirty="0" smtClean="0"/>
              <a:t>5. </a:t>
            </a:r>
            <a:r>
              <a:rPr lang="ru-RU" sz="2000" b="1" dirty="0" smtClean="0"/>
              <a:t>Проведено </a:t>
            </a:r>
            <a:r>
              <a:rPr lang="ru-RU" sz="2000" b="1" dirty="0"/>
              <a:t>полное тестирование</a:t>
            </a:r>
            <a:r>
              <a:rPr lang="ru-RU" sz="2000" dirty="0"/>
              <a:t> (функциональное, модульное, производительности). Все тесты пройдены успешно, код загружен в </a:t>
            </a:r>
            <a:r>
              <a:rPr lang="ru-RU" sz="2000" dirty="0" err="1"/>
              <a:t>репозиторий</a:t>
            </a:r>
            <a:r>
              <a:rPr lang="ru-RU" sz="2000" dirty="0"/>
              <a:t> </a:t>
            </a:r>
            <a:r>
              <a:rPr lang="ru-RU" sz="2000" dirty="0" err="1"/>
              <a:t>GitHub</a:t>
            </a:r>
            <a:r>
              <a:rPr lang="ru-RU" sz="2000" dirty="0"/>
              <a:t>, что подтверждает готовность модуля к внедрению в производственную деятельность предприятия.</a:t>
            </a:r>
          </a:p>
        </p:txBody>
      </p:sp>
    </p:spTree>
    <p:extLst>
      <p:ext uri="{BB962C8B-B14F-4D97-AF65-F5344CB8AC3E}">
        <p14:creationId xmlns:p14="http://schemas.microsoft.com/office/powerpoint/2010/main" val="25087406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98AD8984-A38D-4E8D-95B8-FFA4856CB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856" y="612279"/>
            <a:ext cx="9687193" cy="498598"/>
          </a:xfrm>
        </p:spPr>
        <p:txBody>
          <a:bodyPr/>
          <a:lstStyle/>
          <a:p>
            <a:r>
              <a:rPr lang="ru-RU" sz="3600" dirty="0" smtClean="0"/>
              <a:t>Список используемой литературы</a:t>
            </a:r>
            <a:endParaRPr lang="ru-RU" sz="36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2008A2AF-8712-4604-BBB2-1571404025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2399"/>
            <a:ext cx="10693400" cy="367240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/>
              <a:t>1.</a:t>
            </a:r>
            <a:r>
              <a:rPr lang="ru-RU" sz="2000" dirty="0" smtClean="0"/>
              <a:t>Концерн </a:t>
            </a:r>
            <a:r>
              <a:rPr lang="ru-RU" sz="2000" dirty="0"/>
              <a:t>КЭМЗ (</a:t>
            </a:r>
            <a:r>
              <a:rPr lang="ru-RU" sz="2000" dirty="0" err="1"/>
              <a:t>Кизлярский</a:t>
            </a:r>
            <a:r>
              <a:rPr lang="ru-RU" sz="2000" dirty="0"/>
              <a:t> электромеханический завод). Официальный сайт. – URL: </a:t>
            </a:r>
            <a:r>
              <a:rPr lang="ru-RU" sz="2000" dirty="0">
                <a:hlinkClick r:id="rId2"/>
              </a:rPr>
              <a:t>https://kemz.ru</a:t>
            </a:r>
            <a:endParaRPr lang="ru-RU" sz="2000" dirty="0"/>
          </a:p>
          <a:p>
            <a:pPr marL="0" indent="0">
              <a:buNone/>
            </a:pPr>
            <a:r>
              <a:rPr lang="en-US" sz="2000" dirty="0" smtClean="0"/>
              <a:t>2. </a:t>
            </a:r>
            <a:r>
              <a:rPr lang="ru-RU" sz="2000" dirty="0" smtClean="0"/>
              <a:t>ГОСТ </a:t>
            </a:r>
            <a:r>
              <a:rPr lang="ru-RU" sz="2000" dirty="0"/>
              <a:t>12.2.032-78. ССБТ. Рабочее место при выполнении работ сидя. – М.: </a:t>
            </a:r>
            <a:r>
              <a:rPr lang="ru-RU" sz="2000" dirty="0" err="1"/>
              <a:t>Стандартинформ</a:t>
            </a:r>
            <a:r>
              <a:rPr lang="ru-RU" sz="2000" dirty="0"/>
              <a:t>, 2000.</a:t>
            </a:r>
          </a:p>
          <a:p>
            <a:pPr marL="0" indent="0">
              <a:buNone/>
            </a:pPr>
            <a:r>
              <a:rPr lang="en-US" sz="2000" dirty="0" smtClean="0"/>
              <a:t>3. </a:t>
            </a:r>
            <a:r>
              <a:rPr lang="ru-RU" sz="2000" dirty="0" smtClean="0"/>
              <a:t>СанПиН </a:t>
            </a:r>
            <a:r>
              <a:rPr lang="ru-RU" sz="2000" dirty="0"/>
              <a:t>1.2.3685-21 «Гигиенические нормативы и требования к обеспечению безопасности…». – М.: </a:t>
            </a:r>
            <a:r>
              <a:rPr lang="ru-RU" sz="2000" dirty="0" err="1"/>
              <a:t>Роспотребнадзор</a:t>
            </a:r>
            <a:r>
              <a:rPr lang="ru-RU" sz="2000" dirty="0"/>
              <a:t>, 2021.</a:t>
            </a:r>
          </a:p>
          <a:p>
            <a:pPr marL="0" indent="0">
              <a:buNone/>
            </a:pPr>
            <a:r>
              <a:rPr lang="en-US" sz="2000" dirty="0" smtClean="0"/>
              <a:t>4. </a:t>
            </a:r>
            <a:r>
              <a:rPr lang="ru-RU" sz="2000" dirty="0" err="1" smtClean="0"/>
              <a:t>Microsoft</a:t>
            </a:r>
            <a:r>
              <a:rPr lang="ru-RU" sz="2000" dirty="0" smtClean="0"/>
              <a:t> </a:t>
            </a:r>
            <a:r>
              <a:rPr lang="ru-RU" sz="2000" dirty="0" err="1"/>
              <a:t>Docs</a:t>
            </a:r>
            <a:r>
              <a:rPr lang="ru-RU" sz="2000" dirty="0"/>
              <a:t>. </a:t>
            </a:r>
            <a:r>
              <a:rPr lang="ru-RU" sz="2000" dirty="0" err="1"/>
              <a:t>Windows</a:t>
            </a:r>
            <a:r>
              <a:rPr lang="ru-RU" sz="2000" dirty="0"/>
              <a:t> </a:t>
            </a:r>
            <a:r>
              <a:rPr lang="ru-RU" sz="2000" dirty="0" err="1"/>
              <a:t>Forms</a:t>
            </a:r>
            <a:r>
              <a:rPr lang="ru-RU" sz="2000" dirty="0"/>
              <a:t> для .NET. – URL: </a:t>
            </a:r>
            <a:r>
              <a:rPr lang="ru-RU" sz="2000" dirty="0">
                <a:hlinkClick r:id="rId3"/>
              </a:rPr>
              <a:t>https://learn.microsoft.com/ru-ru/dotnet/desktop/winforms/</a:t>
            </a:r>
            <a:endParaRPr lang="ru-RU" sz="2000" dirty="0"/>
          </a:p>
          <a:p>
            <a:pPr marL="0" indent="0">
              <a:buNone/>
            </a:pPr>
            <a:r>
              <a:rPr lang="en-US" sz="2000" dirty="0" smtClean="0"/>
              <a:t>5. </a:t>
            </a:r>
            <a:r>
              <a:rPr lang="ru-RU" sz="2000" dirty="0" err="1" smtClean="0"/>
              <a:t>Newtonsoft.Json</a:t>
            </a:r>
            <a:r>
              <a:rPr lang="ru-RU" sz="2000" dirty="0"/>
              <a:t>. Документация. – URL: </a:t>
            </a:r>
            <a:r>
              <a:rPr lang="ru-RU" sz="2000" dirty="0">
                <a:hlinkClick r:id="rId4"/>
              </a:rPr>
              <a:t>https://www.newtonsoft.com/json</a:t>
            </a:r>
            <a:endParaRPr lang="ru-RU" sz="2000" dirty="0"/>
          </a:p>
          <a:p>
            <a:pPr marL="0" indent="0">
              <a:buNone/>
            </a:pPr>
            <a:r>
              <a:rPr lang="en-US" sz="2000" dirty="0" smtClean="0"/>
              <a:t>6. </a:t>
            </a:r>
            <a:r>
              <a:rPr lang="ru-RU" sz="2000" dirty="0" err="1" smtClean="0"/>
              <a:t>Албахари</a:t>
            </a:r>
            <a:r>
              <a:rPr lang="ru-RU" sz="2000" dirty="0" smtClean="0"/>
              <a:t> </a:t>
            </a:r>
            <a:r>
              <a:rPr lang="ru-RU" sz="2000" dirty="0"/>
              <a:t>Д. C# 9.0. Справочник. – М.: Вильямс, 2021. – 1040 с.</a:t>
            </a:r>
          </a:p>
          <a:p>
            <a:pPr marL="0" indent="0">
              <a:buNone/>
            </a:pPr>
            <a:r>
              <a:rPr lang="en-US" sz="2000" dirty="0" smtClean="0"/>
              <a:t>7. </a:t>
            </a:r>
            <a:r>
              <a:rPr lang="ru-RU" sz="2000" dirty="0" err="1" smtClean="0"/>
              <a:t>Троелсен</a:t>
            </a:r>
            <a:r>
              <a:rPr lang="ru-RU" sz="2000" dirty="0" smtClean="0"/>
              <a:t> </a:t>
            </a:r>
            <a:r>
              <a:rPr lang="ru-RU" sz="2000" dirty="0"/>
              <a:t>Э., </a:t>
            </a:r>
            <a:r>
              <a:rPr lang="ru-RU" sz="2000" dirty="0" err="1"/>
              <a:t>Джепикс</a:t>
            </a:r>
            <a:r>
              <a:rPr lang="ru-RU" sz="2000" dirty="0"/>
              <a:t> Ф. C# 7.0 и платформа .NET </a:t>
            </a:r>
            <a:r>
              <a:rPr lang="ru-RU" sz="2000" dirty="0" err="1"/>
              <a:t>Core</a:t>
            </a:r>
            <a:r>
              <a:rPr lang="ru-RU" sz="2000" dirty="0"/>
              <a:t>. – М.: ДМК Пресс, 2018. – 1328 с.</a:t>
            </a:r>
          </a:p>
          <a:p>
            <a:pPr marL="0" indent="0">
              <a:buNone/>
            </a:pPr>
            <a:r>
              <a:rPr lang="en-US" sz="2000" dirty="0" smtClean="0"/>
              <a:t>8. </a:t>
            </a:r>
            <a:r>
              <a:rPr lang="ru-RU" sz="2000" dirty="0" err="1" smtClean="0"/>
              <a:t>GitHub</a:t>
            </a:r>
            <a:r>
              <a:rPr lang="ru-RU" sz="2000" dirty="0" smtClean="0"/>
              <a:t> </a:t>
            </a:r>
            <a:r>
              <a:rPr lang="ru-RU" sz="2000" dirty="0" err="1"/>
              <a:t>Guides</a:t>
            </a:r>
            <a:r>
              <a:rPr lang="ru-RU" sz="2000" dirty="0"/>
              <a:t>. Работа с удалёнными </a:t>
            </a:r>
            <a:r>
              <a:rPr lang="ru-RU" sz="2000" dirty="0" err="1"/>
              <a:t>репозиториями</a:t>
            </a:r>
            <a:r>
              <a:rPr lang="ru-RU" sz="2000" dirty="0"/>
              <a:t>. – URL: </a:t>
            </a:r>
            <a:r>
              <a:rPr lang="ru-RU" sz="2000" dirty="0">
                <a:hlinkClick r:id="rId5"/>
              </a:rPr>
              <a:t>https://docs.github.com/ru</a:t>
            </a:r>
            <a:endParaRPr lang="ru-RU" sz="2000" dirty="0"/>
          </a:p>
          <a:p>
            <a:pPr marL="0" indent="0">
              <a:buNone/>
            </a:pPr>
            <a:r>
              <a:rPr lang="en-US" sz="2000" dirty="0" smtClean="0"/>
              <a:t>9. </a:t>
            </a:r>
            <a:r>
              <a:rPr lang="ru-RU" sz="2000" dirty="0" smtClean="0"/>
              <a:t>Методические </a:t>
            </a:r>
            <a:r>
              <a:rPr lang="ru-RU" sz="2000" dirty="0"/>
              <a:t>указания по прохождению практики (внутренний документ техникума).</a:t>
            </a:r>
          </a:p>
          <a:p>
            <a:pPr marL="0" indent="0">
              <a:buNone/>
            </a:pPr>
            <a:r>
              <a:rPr lang="en-US" sz="2000" dirty="0" smtClean="0"/>
              <a:t>10. </a:t>
            </a:r>
            <a:r>
              <a:rPr lang="ru-RU" sz="2000" dirty="0" smtClean="0"/>
              <a:t>Инструкция </a:t>
            </a:r>
            <a:r>
              <a:rPr lang="ru-RU" sz="2000" dirty="0"/>
              <a:t>по охране труда оператора ПЭВМ (АО «Концерн КЭМЗ», 2024 г.).</a:t>
            </a:r>
          </a:p>
        </p:txBody>
      </p:sp>
    </p:spTree>
    <p:extLst>
      <p:ext uri="{BB962C8B-B14F-4D97-AF65-F5344CB8AC3E}">
        <p14:creationId xmlns:p14="http://schemas.microsoft.com/office/powerpoint/2010/main" val="14233635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0000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презентация_шаблончик A4 (1)" id="{CECEB147-F7F0-4995-89D0-2FD57D90FCEB}" vid="{306AE4ED-CFFA-434E-A652-8353525159A5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Стандартная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2611</TotalTime>
  <Words>1024</Words>
  <Application>Microsoft Office PowerPoint</Application>
  <PresentationFormat>Произвольный</PresentationFormat>
  <Paragraphs>272</Paragraphs>
  <Slides>21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30" baseType="lpstr">
      <vt:lpstr>Arial</vt:lpstr>
      <vt:lpstr>Arial Black</vt:lpstr>
      <vt:lpstr>Calibri</vt:lpstr>
      <vt:lpstr>Calibri Light</vt:lpstr>
      <vt:lpstr>Courier New</vt:lpstr>
      <vt:lpstr>Menlo</vt:lpstr>
      <vt:lpstr>quote-cjk-patch</vt:lpstr>
      <vt:lpstr>Times New Roman</vt:lpstr>
      <vt:lpstr>Тема Office</vt:lpstr>
      <vt:lpstr>   ОТЧЕТ  о прохождении производственной практики   по профессиональному модулю ПМ.01 Разработка программных модулей программного обеспечения компьютерных систем  в период с «__» _________ 20__ г. по «__» _________ 20__ г.  Специальность 09.02.07 Информационные системы и программирование  </vt:lpstr>
      <vt:lpstr>Содержание</vt:lpstr>
      <vt:lpstr>Организационный этап</vt:lpstr>
      <vt:lpstr>Техника безопасности</vt:lpstr>
      <vt:lpstr>Анализ предметной области</vt:lpstr>
      <vt:lpstr>Анализ предметной области</vt:lpstr>
      <vt:lpstr>Анализ предметной области</vt:lpstr>
      <vt:lpstr>Анализ предметной области</vt:lpstr>
      <vt:lpstr>Разработка спецификаций</vt:lpstr>
      <vt:lpstr>Разработка спецификаций</vt:lpstr>
      <vt:lpstr>Разработка спецификаций</vt:lpstr>
      <vt:lpstr>Разработка кода программного модуля</vt:lpstr>
      <vt:lpstr>Разработка кода программного модуля</vt:lpstr>
      <vt:lpstr>Разработка кода программного модуля</vt:lpstr>
      <vt:lpstr>Разработка кода программного модуля</vt:lpstr>
      <vt:lpstr>Тестирование программного модуля</vt:lpstr>
      <vt:lpstr>Тестирование программного модуля</vt:lpstr>
      <vt:lpstr>Тестирование программного модуля</vt:lpstr>
      <vt:lpstr>Тестирование программного модуля</vt:lpstr>
      <vt:lpstr>Выводы</vt:lpstr>
      <vt:lpstr>Список используемой литературы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Катя</dc:creator>
  <cp:lastModifiedBy>rpk2024.6</cp:lastModifiedBy>
  <cp:revision>344</cp:revision>
  <cp:lastPrinted>2019-08-06T13:15:09Z</cp:lastPrinted>
  <dcterms:created xsi:type="dcterms:W3CDTF">2020-03-27T22:15:06Z</dcterms:created>
  <dcterms:modified xsi:type="dcterms:W3CDTF">2026-06-03T08:53:47Z</dcterms:modified>
</cp:coreProperties>
</file>