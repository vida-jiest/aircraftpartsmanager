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692" r:id="rId2"/>
    <p:sldId id="693" r:id="rId3"/>
    <p:sldId id="694" r:id="rId4"/>
    <p:sldId id="651" r:id="rId5"/>
    <p:sldId id="726" r:id="rId6"/>
    <p:sldId id="744" r:id="rId7"/>
    <p:sldId id="745" r:id="rId8"/>
    <p:sldId id="746" r:id="rId9"/>
    <p:sldId id="727" r:id="rId10"/>
    <p:sldId id="747" r:id="rId11"/>
    <p:sldId id="748" r:id="rId12"/>
    <p:sldId id="728" r:id="rId13"/>
    <p:sldId id="749" r:id="rId14"/>
    <p:sldId id="750" r:id="rId15"/>
    <p:sldId id="751" r:id="rId16"/>
    <p:sldId id="739" r:id="rId17"/>
    <p:sldId id="754" r:id="rId18"/>
    <p:sldId id="755" r:id="rId19"/>
    <p:sldId id="743" r:id="rId20"/>
    <p:sldId id="690" r:id="rId21"/>
    <p:sldId id="691" r:id="rId22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99CCFF"/>
    <a:srgbClr val="052E81"/>
    <a:srgbClr val="0000CC"/>
    <a:srgbClr val="003399"/>
    <a:srgbClr val="0000FF"/>
    <a:srgbClr val="3333CC"/>
    <a:srgbClr val="EB0000"/>
    <a:srgbClr val="EB1E00"/>
    <a:srgbClr val="E5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6408" autoAdjust="0"/>
  </p:normalViewPr>
  <p:slideViewPr>
    <p:cSldViewPr showGuides="1">
      <p:cViewPr varScale="1">
        <p:scale>
          <a:sx n="71" d="100"/>
          <a:sy n="71" d="100"/>
        </p:scale>
        <p:origin x="1242" y="66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CA9037-5C04-413C-AFF2-1B3777C3E58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0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64645" y="36215"/>
            <a:ext cx="2401735" cy="1883566"/>
            <a:chOff x="108831" y="-599499"/>
            <a:chExt cx="2520279" cy="1976534"/>
          </a:xfrm>
        </p:grpSpPr>
        <p:sp>
          <p:nvSpPr>
            <p:cNvPr id="10" name="Овал 9"/>
            <p:cNvSpPr/>
            <p:nvPr userDrawn="1"/>
          </p:nvSpPr>
          <p:spPr>
            <a:xfrm>
              <a:off x="234132" y="-565606"/>
              <a:ext cx="2269678" cy="187645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232B74"/>
                </a:clrFrom>
                <a:clrTo>
                  <a:srgbClr val="232B7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831" y="-599499"/>
              <a:ext cx="2520279" cy="1976534"/>
            </a:xfrm>
            <a:prstGeom prst="rect">
              <a:avLst/>
            </a:prstGeom>
          </p:spPr>
        </p:pic>
      </p:grpSp>
      <p:sp>
        <p:nvSpPr>
          <p:cNvPr id="3" name="Полилиния 2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99CCF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Полилиния 8"/>
          <p:cNvSpPr/>
          <p:nvPr userDrawn="1"/>
        </p:nvSpPr>
        <p:spPr>
          <a:xfrm>
            <a:off x="9499310" y="6637967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Полилиния 7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xmlns="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Полилиния 6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xmlns="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xmlns="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xmlns="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xmlns="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Полилиния 11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xmlns="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xmlns="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xmlns="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xmlns="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xmlns="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xmlns="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xmlns="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xmlns="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xmlns="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xmlns="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xmlns="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олилиния 18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9" r:id="rId2"/>
    <p:sldLayoutId id="2147483739" r:id="rId3"/>
    <p:sldLayoutId id="2147483736" r:id="rId4"/>
    <p:sldLayoutId id="2147483738" r:id="rId5"/>
    <p:sldLayoutId id="2147483737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desktop/winforms/" TargetMode="External"/><Relationship Id="rId2" Type="http://schemas.openxmlformats.org/officeDocument/2006/relationships/hyperlink" Target="https://kemz.r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ithub.com/ru" TargetMode="External"/><Relationship Id="rId4" Type="http://schemas.openxmlformats.org/officeDocument/2006/relationships/hyperlink" Target="https://www.newtonsoft.com/js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33" y="4572719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>ОТЧЕТ </a:t>
            </a:r>
            <a:br>
              <a:rPr lang="ru-RU" sz="2100" dirty="0" smtClean="0"/>
            </a:br>
            <a:r>
              <a:rPr lang="ru-RU" sz="2100" dirty="0" smtClean="0"/>
              <a:t>о прохождении производственной практики</a:t>
            </a:r>
            <a:br>
              <a:rPr lang="ru-RU" sz="2100" dirty="0" smtClean="0"/>
            </a:br>
            <a:r>
              <a:rPr lang="ru-RU" sz="2100" dirty="0" smtClean="0"/>
              <a:t> </a:t>
            </a:r>
            <a:br>
              <a:rPr lang="ru-RU" sz="2100" dirty="0" smtClean="0"/>
            </a:br>
            <a:r>
              <a:rPr lang="ru-RU" sz="2100" dirty="0" smtClean="0"/>
              <a:t>по профессиональному модулю ПМ.01 Разработка программных модулей программного обеспечения компьютерных систем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ru-RU" sz="2100" dirty="0" smtClean="0"/>
              <a:t>в период с «__» _________ 20__ г. по «__» _________ 20__ г.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100" dirty="0" smtClean="0"/>
              <a:t>Специальность 09.02.07 Информационные системы и программирование</a:t>
            </a: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xmlns="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_</a:t>
            </a:r>
            <a:r>
              <a:rPr lang="ru-RU" altLang="ru-RU" sz="2400" dirty="0" err="1" smtClean="0">
                <a:solidFill>
                  <a:srgbClr val="FF0000"/>
                </a:solidFill>
                <a:latin typeface="Calibri"/>
              </a:rPr>
              <a:t>Акбиев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 </a:t>
            </a:r>
            <a:r>
              <a:rPr lang="ru-RU" altLang="ru-RU" sz="2400" dirty="0" err="1" smtClean="0">
                <a:solidFill>
                  <a:srgbClr val="FF0000"/>
                </a:solidFill>
                <a:latin typeface="Calibri"/>
              </a:rPr>
              <a:t>Вайдулла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 Русланович ___________</a:t>
            </a:r>
            <a:endParaRPr lang="ru-RU" altLang="ru-RU" sz="2400" dirty="0">
              <a:solidFill>
                <a:srgbClr val="FF0000"/>
              </a:solidFill>
              <a:latin typeface="Calibri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_И-СП-24 ________________________________________</a:t>
            </a:r>
            <a:endParaRPr lang="ru-RU" altLang="ru-RU" sz="2400" dirty="0">
              <a:solidFill>
                <a:srgbClr val="FF0000"/>
              </a:solidFill>
              <a:latin typeface="Calibri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 </a:t>
            </a:r>
            <a:r>
              <a:rPr lang="ru-RU" altLang="ru-RU" sz="2000" dirty="0" smtClean="0">
                <a:solidFill>
                  <a:srgbClr val="FF0000"/>
                </a:solidFill>
              </a:rPr>
              <a:t>_Магомедова М. Н.____________________________</a:t>
            </a:r>
            <a:endParaRPr lang="ru-RU" altLang="ru-RU" sz="2000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 hangingPunct="0"/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МИНИСТЕРСТВО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ОБРАЗОВАНИЯ И НАУКИ 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РЕСПУБЛИКИ ДАГЕСТАН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Частное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профессиональное образовательное учреждение </a:t>
            </a:r>
          </a:p>
          <a:p>
            <a:pPr algn="ctr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«Республиканский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полипрофессиональный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колледж»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altLang="ru-RU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0156" y="1836415"/>
            <a:ext cx="9687193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1. </a:t>
            </a:r>
            <a:r>
              <a:rPr lang="ru-RU" sz="2000" dirty="0" smtClean="0"/>
              <a:t>Инструктаж </a:t>
            </a:r>
            <a:r>
              <a:rPr lang="ru-RU" sz="2000" dirty="0"/>
              <a:t>по соблюдению правил противопожарной безопасности, правил охраны труда, м</a:t>
            </a:r>
            <a:r>
              <a:rPr lang="ru-RU" sz="2000" dirty="0" smtClean="0"/>
              <a:t>еры </a:t>
            </a:r>
            <a:r>
              <a:rPr lang="ru-RU" sz="2000" dirty="0"/>
              <a:t>по обеспечению безопасности при работе с компьютерной </a:t>
            </a:r>
            <a:r>
              <a:rPr lang="ru-RU" sz="2000" dirty="0" smtClean="0"/>
              <a:t>техникой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2. </a:t>
            </a:r>
            <a:r>
              <a:rPr lang="ru-RU" dirty="0" smtClean="0"/>
              <a:t>Анализ предметной области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3. </a:t>
            </a:r>
            <a:r>
              <a:rPr lang="ru-RU" sz="2000" dirty="0" smtClean="0"/>
              <a:t>Разработка спецификаций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4. </a:t>
            </a:r>
            <a:r>
              <a:rPr lang="ru-RU" sz="2000" dirty="0" smtClean="0"/>
              <a:t>Разработка кода программного продукта на основе готовой спецификации на уровне модуля</a:t>
            </a:r>
            <a:endParaRPr lang="ru-RU" sz="2000" dirty="0"/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5. </a:t>
            </a:r>
            <a:r>
              <a:rPr lang="ru-RU" sz="2000" dirty="0" smtClean="0"/>
              <a:t>Проведение тестирования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6. </a:t>
            </a:r>
            <a:r>
              <a:rPr lang="ru-RU" sz="2000" dirty="0" smtClean="0"/>
              <a:t>Вывод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 smtClean="0"/>
              <a:t>Организационный этап</a:t>
            </a:r>
            <a:endParaRPr lang="ru-RU" sz="3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</a:t>
            </a:r>
            <a:r>
              <a:rPr lang="ru-RU" sz="1600" dirty="0" err="1" smtClean="0">
                <a:solidFill>
                  <a:srgbClr val="FF0000"/>
                </a:solidFill>
              </a:rPr>
              <a:t>Акбиев</a:t>
            </a:r>
            <a:r>
              <a:rPr lang="ru-RU" sz="1600" dirty="0" smtClean="0">
                <a:solidFill>
                  <a:srgbClr val="FF0000"/>
                </a:solidFill>
              </a:rPr>
              <a:t> </a:t>
            </a:r>
            <a:r>
              <a:rPr lang="ru-RU" sz="1600" dirty="0" err="1" smtClean="0">
                <a:solidFill>
                  <a:srgbClr val="FF0000"/>
                </a:solidFill>
              </a:rPr>
              <a:t>Вайдулла</a:t>
            </a:r>
            <a:r>
              <a:rPr lang="ru-RU" sz="1600" dirty="0" smtClean="0">
                <a:solidFill>
                  <a:srgbClr val="FF0000"/>
                </a:solidFill>
              </a:rPr>
              <a:t> </a:t>
            </a:r>
            <a:r>
              <a:rPr lang="ru-RU" sz="1600" dirty="0" err="1" smtClean="0">
                <a:solidFill>
                  <a:srgbClr val="FF0000"/>
                </a:solidFill>
              </a:rPr>
              <a:t>Руссланович</a:t>
            </a:r>
            <a:r>
              <a:rPr lang="ru-RU" sz="1600" dirty="0" smtClean="0"/>
              <a:t>, проходил производственную </a:t>
            </a:r>
            <a:r>
              <a:rPr lang="ru-RU" sz="1600" dirty="0"/>
              <a:t>практику на базе </a:t>
            </a:r>
            <a:r>
              <a:rPr lang="ru-RU" sz="1600" dirty="0" smtClean="0"/>
              <a:t>АО «Концерн КЭМЗ»</a:t>
            </a:r>
            <a:endParaRPr lang="ru-RU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При выполнении индивидуального задания по практике </a:t>
            </a:r>
            <a:r>
              <a:rPr lang="ru-RU" sz="1600" dirty="0" smtClean="0"/>
              <a:t>решал </a:t>
            </a:r>
            <a:r>
              <a:rPr lang="ru-RU" sz="1600" dirty="0"/>
              <a:t>задачу </a:t>
            </a:r>
            <a:r>
              <a:rPr lang="ru-RU" sz="1600" dirty="0" smtClean="0"/>
              <a:t>создания приложения для предметной области производственной практики.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 smtClean="0"/>
              <a:t>Перед </a:t>
            </a:r>
            <a:r>
              <a:rPr lang="ru-RU" sz="1600" dirty="0"/>
              <a:t>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Принял </a:t>
            </a:r>
            <a:r>
              <a:rPr lang="ru-RU" sz="1600" dirty="0"/>
              <a:t>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Ознакомился </a:t>
            </a:r>
            <a:r>
              <a:rPr lang="ru-RU" sz="1600" dirty="0"/>
              <a:t>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Уточнил </a:t>
            </a:r>
            <a:r>
              <a:rPr lang="ru-RU" sz="1600" dirty="0"/>
              <a:t>контакты руководителя практики от </a:t>
            </a:r>
            <a:r>
              <a:rPr lang="ru-RU" sz="1600" dirty="0" smtClean="0"/>
              <a:t>Образовательной </a:t>
            </a:r>
            <a:r>
              <a:rPr lang="ru-RU" sz="1600" dirty="0"/>
              <a:t>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Требования к внешнему виду: деловой стиль, сменная обувь, без джинсов и ярких аксессуаров.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 smtClean="0"/>
              <a:t>Круг </a:t>
            </a:r>
            <a:r>
              <a:rPr lang="ru-RU" sz="1600" dirty="0"/>
              <a:t>обязанностей: разработка на C# (</a:t>
            </a:r>
            <a:r>
              <a:rPr lang="ru-RU" sz="1600" dirty="0" err="1"/>
              <a:t>WinForms</a:t>
            </a:r>
            <a:r>
              <a:rPr lang="ru-RU" sz="1600" dirty="0"/>
              <a:t>), интерфейс, код, тестирование, отчёт.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Доступ к данным: ПК с </a:t>
            </a:r>
            <a:r>
              <a:rPr lang="ru-RU" sz="1600" dirty="0" err="1"/>
              <a:t>Visual</a:t>
            </a:r>
            <a:r>
              <a:rPr lang="ru-RU" sz="1600" dirty="0"/>
              <a:t> </a:t>
            </a:r>
            <a:r>
              <a:rPr lang="ru-RU" sz="1600" dirty="0" err="1"/>
              <a:t>Studio</a:t>
            </a:r>
            <a:r>
              <a:rPr lang="ru-RU" sz="1600" dirty="0"/>
              <a:t>, локальная сеть, справочные материалы (</a:t>
            </a:r>
            <a:r>
              <a:rPr lang="ru-RU" sz="1600" dirty="0" err="1"/>
              <a:t>Excel</a:t>
            </a:r>
            <a:r>
              <a:rPr lang="ru-RU" sz="1600" dirty="0"/>
              <a:t>, журналы).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xmlns="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  <a:endParaRPr lang="ru-RU" b="0" dirty="0" smtClean="0">
              <a:solidFill>
                <a:srgbClr val="E60000"/>
              </a:solidFill>
            </a:endParaRPr>
          </a:p>
          <a:p>
            <a:r>
              <a:rPr lang="ru-RU" b="0" dirty="0" smtClean="0">
                <a:solidFill>
                  <a:srgbClr val="E60000"/>
                </a:solidFill>
              </a:rPr>
              <a:t>техники </a:t>
            </a:r>
            <a:r>
              <a:rPr lang="ru-RU" b="0" dirty="0">
                <a:solidFill>
                  <a:srgbClr val="E60000"/>
                </a:solidFill>
              </a:rPr>
              <a:t>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Техника безопасности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237832"/>
            <a:ext cx="9824904" cy="334915"/>
          </a:xfrm>
        </p:spPr>
        <p:txBody>
          <a:bodyPr>
            <a:noAutofit/>
          </a:bodyPr>
          <a:lstStyle/>
          <a:p>
            <a:r>
              <a:rPr lang="ru-RU" sz="1700" b="0" dirty="0">
                <a:solidFill>
                  <a:srgbClr val="E60000"/>
                </a:solidFill>
              </a:rPr>
              <a:t>Инструкция по охране труда. Инструкции по технике безопасности и </a:t>
            </a:r>
            <a:r>
              <a:rPr lang="ru-RU" sz="1700" b="0" dirty="0" err="1">
                <a:solidFill>
                  <a:srgbClr val="E60000"/>
                </a:solidFill>
              </a:rPr>
              <a:t>пожароопасности</a:t>
            </a:r>
            <a:r>
              <a:rPr lang="ru-RU" sz="1700" b="0" dirty="0">
                <a:solidFill>
                  <a:srgbClr val="E60000"/>
                </a:solidFill>
              </a:rPr>
              <a:t>. Меры по обеспечению безопасности при работе с компьютерной техникой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626620" y="1749888"/>
            <a:ext cx="6066779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Техника </a:t>
            </a:r>
            <a:r>
              <a:rPr lang="ru-RU" b="1" dirty="0" smtClean="0"/>
              <a:t>безопасности.</a:t>
            </a:r>
            <a:endParaRPr lang="ru-RU" b="1" dirty="0"/>
          </a:p>
          <a:p>
            <a:r>
              <a:rPr lang="ru-RU" b="1" dirty="0"/>
              <a:t>Инструкция по охране труда (СанПиН 1.2.3685-21)</a:t>
            </a:r>
            <a:endParaRPr lang="ru-RU" dirty="0"/>
          </a:p>
          <a:p>
            <a:r>
              <a:rPr lang="ru-RU" dirty="0"/>
              <a:t>Площадь рабочего места – не менее 4,5 м²</a:t>
            </a:r>
          </a:p>
          <a:p>
            <a:r>
              <a:rPr lang="ru-RU" dirty="0"/>
              <a:t>Расстояние до экрана – 60–70 см, освещённость 300–500 люкс</a:t>
            </a:r>
          </a:p>
          <a:p>
            <a:r>
              <a:rPr lang="ru-RU" dirty="0"/>
              <a:t>Режим труда: 2 часа работы → 15 минут перерыва</a:t>
            </a:r>
          </a:p>
          <a:p>
            <a:r>
              <a:rPr lang="ru-RU" dirty="0"/>
              <a:t>Запрещено вскрывать ПК и отключать </a:t>
            </a:r>
            <a:r>
              <a:rPr lang="ru-RU" dirty="0" smtClean="0"/>
              <a:t>заземление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8" y="2052439"/>
            <a:ext cx="1902117" cy="1902117"/>
          </a:xfrm>
          <a:prstGeom prst="rect">
            <a:avLst/>
          </a:prstGeom>
        </p:spPr>
      </p:pic>
      <p:pic>
        <p:nvPicPr>
          <p:cNvPr id="11" name="Рисунок 10" descr="C:\Users\rpk2024.6\Downloads\stol-8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82994"/>
            <a:ext cx="4626620" cy="26457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-51676" y="4356695"/>
            <a:ext cx="4678297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Меры безопасности при работе с </a:t>
            </a:r>
            <a:r>
              <a:rPr lang="ru-RU" b="1" dirty="0" smtClean="0"/>
              <a:t>ПК.</a:t>
            </a:r>
            <a:endParaRPr lang="ru-RU" dirty="0"/>
          </a:p>
          <a:p>
            <a:r>
              <a:rPr lang="ru-RU" dirty="0"/>
              <a:t>Электропитание через ИБП, заземление</a:t>
            </a:r>
          </a:p>
          <a:p>
            <a:r>
              <a:rPr lang="ru-RU" dirty="0"/>
              <a:t>Ежедневная влажная уборка, проветривание</a:t>
            </a:r>
          </a:p>
          <a:p>
            <a:r>
              <a:rPr lang="ru-RU" dirty="0"/>
              <a:t>Вводный инструктаж перед началом практики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626620" y="4349129"/>
            <a:ext cx="53467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Пожарная безопасность (ИПБ-022</a:t>
            </a:r>
            <a:r>
              <a:rPr lang="ru-RU" b="1" dirty="0" smtClean="0"/>
              <a:t>).</a:t>
            </a:r>
            <a:endParaRPr lang="ru-RU" dirty="0"/>
          </a:p>
          <a:p>
            <a:r>
              <a:rPr lang="ru-RU" dirty="0"/>
              <a:t>Не оставлять оборудование без присмотра</a:t>
            </a:r>
          </a:p>
          <a:p>
            <a:r>
              <a:rPr lang="ru-RU" dirty="0"/>
              <a:t>Не загромождать проходы, использовать исправные розетки</a:t>
            </a:r>
          </a:p>
          <a:p>
            <a:r>
              <a:rPr lang="ru-RU" dirty="0"/>
              <a:t>При пожаре: отключить питание, звонить 101, тушить углекислотным огнетушителем</a:t>
            </a:r>
          </a:p>
        </p:txBody>
      </p:sp>
    </p:spTree>
    <p:extLst>
      <p:ext uri="{BB962C8B-B14F-4D97-AF65-F5344CB8AC3E}">
        <p14:creationId xmlns:p14="http://schemas.microsoft.com/office/powerpoint/2010/main" val="4284592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Краткая технико-экономическая характеристика объекта практики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46475" y="2124447"/>
            <a:ext cx="7288857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АО «Концерн КЭМЗ»</a:t>
            </a:r>
            <a:r>
              <a:rPr lang="ru-RU" dirty="0"/>
              <a:t> – авиастроительный завод в г. Кизляр.</a:t>
            </a:r>
            <a:br>
              <a:rPr lang="ru-RU" dirty="0"/>
            </a:br>
            <a:r>
              <a:rPr lang="ru-RU" dirty="0"/>
              <a:t>Продукция: детали и электрооборудование для самолётов.</a:t>
            </a:r>
          </a:p>
          <a:p>
            <a:endParaRPr lang="ru-RU" b="1" dirty="0" smtClean="0"/>
          </a:p>
          <a:p>
            <a:r>
              <a:rPr lang="ru-RU" b="1" dirty="0" smtClean="0"/>
              <a:t>Практика </a:t>
            </a:r>
            <a:r>
              <a:rPr lang="ru-RU" b="1" dirty="0"/>
              <a:t>в отделе учёта деталей.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До разработки – учёт в </a:t>
            </a:r>
            <a:r>
              <a:rPr lang="ru-RU" dirty="0" err="1"/>
              <a:t>Excel</a:t>
            </a:r>
            <a:r>
              <a:rPr lang="ru-RU" dirty="0"/>
              <a:t> (ошибки, дублирование).</a:t>
            </a:r>
            <a:br>
              <a:rPr lang="ru-RU" dirty="0"/>
            </a:br>
            <a:r>
              <a:rPr lang="ru-RU" dirty="0"/>
              <a:t>Разработан модуль на C# для автоматизации учёта.</a:t>
            </a:r>
          </a:p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4" name="Рисунок 13" descr="C:\Users\rpk2024.6\Downloads\i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4447"/>
            <a:ext cx="3743325" cy="3924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628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технических средств подразделения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42644" y="1793645"/>
            <a:ext cx="590465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Рабочее место оснащено ИБП для защиты от скачков напряжения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Проведён локальный доступ к файловому серверу предприятия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Вся техника прошла проверку заземления и электробезопасности.</a:t>
            </a:r>
          </a:p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44589"/>
              </p:ext>
            </p:extLst>
          </p:nvPr>
        </p:nvGraphicFramePr>
        <p:xfrm>
          <a:off x="-1082" y="2347643"/>
          <a:ext cx="4051638" cy="3429000"/>
        </p:xfrm>
        <a:graphic>
          <a:graphicData uri="http://schemas.openxmlformats.org/drawingml/2006/table">
            <a:tbl>
              <a:tblPr/>
              <a:tblGrid>
                <a:gridCol w="2025819"/>
                <a:gridCol w="2025819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Наименование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Характеристики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Рабочая станция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b="0">
                          <a:effectLst/>
                          <a:latin typeface="quote-cjk-patch"/>
                        </a:rPr>
                        <a:t>Intel Core i5, 8 ГБ ОЗУ, SSD 256 ГБ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ОС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Windows 10 Pro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Принтер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HP LaserJet Pro M404dn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Сканер штрих-кодов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Honeywell Voyager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Сетевое оборудование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Коммутатор D-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Link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Ethernet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1 Гбит/с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-1082" y="1904259"/>
            <a:ext cx="405163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Состав технических средств</a:t>
            </a:r>
          </a:p>
        </p:txBody>
      </p:sp>
    </p:spTree>
    <p:extLst>
      <p:ext uri="{BB962C8B-B14F-4D97-AF65-F5344CB8AC3E}">
        <p14:creationId xmlns:p14="http://schemas.microsoft.com/office/powerpoint/2010/main" val="13853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3717" y="1303113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программного обеспечения и тематика решаемых задач структурным подразделением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017259"/>
              </p:ext>
            </p:extLst>
          </p:nvPr>
        </p:nvGraphicFramePr>
        <p:xfrm>
          <a:off x="-5215" y="2675907"/>
          <a:ext cx="4847860" cy="3886200"/>
        </p:xfrm>
        <a:graphic>
          <a:graphicData uri="http://schemas.openxmlformats.org/drawingml/2006/table">
            <a:tbl>
              <a:tblPr/>
              <a:tblGrid>
                <a:gridCol w="2423930"/>
                <a:gridCol w="242393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Наименование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0721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Windows 10 Pro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Операционная система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3326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Microsoft Office 365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Ведение Excel-таблиц учёта, оформление документов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023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1С:Предприятие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Бухгалтерский и складской учёт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023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PostgreSQL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База данных готовой продукции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3326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Visual Studio 2022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Среда разработки (использовалась для создания модуля)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5850756" y="3034062"/>
            <a:ext cx="4842644" cy="16125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Основные задачи подразделения (отдел учёта деталей):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Приёмка поступающих авиационных деталей от поставщиков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Регистрация выдачи деталей в производственные цеха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Учёт установки деталей на борт самолёта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Списание неисправных или выработавших ресурс деталей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Формирование отчётов по остаткам на складе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-51676" y="1757224"/>
            <a:ext cx="79906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Состав программного обеспечения и тематика решаемых задач структурным подразделением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94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Анализ требований к разрабатываемому программному модулю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58268" y="2268463"/>
            <a:ext cx="803790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/>
              <a:t>Сбор </a:t>
            </a:r>
            <a:r>
              <a:rPr lang="ru-RU" b="1" dirty="0"/>
              <a:t>требований:</a:t>
            </a:r>
            <a:r>
              <a:rPr lang="ru-RU" dirty="0"/>
              <a:t> опрос сотрудников, анализ </a:t>
            </a:r>
            <a:r>
              <a:rPr lang="ru-RU" dirty="0" err="1"/>
              <a:t>Excel</a:t>
            </a:r>
            <a:r>
              <a:rPr lang="ru-RU" dirty="0"/>
              <a:t>-журналов</a:t>
            </a:r>
            <a:r>
              <a:rPr lang="ru-RU" dirty="0" smtClean="0"/>
              <a:t>.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Документирование:</a:t>
            </a:r>
            <a:r>
              <a:rPr lang="ru-RU" dirty="0"/>
              <a:t> таблица с 10 требованиями (CRUD, поиск, фильтр, </a:t>
            </a:r>
            <a:r>
              <a:rPr lang="ru-RU" dirty="0" err="1"/>
              <a:t>автосохранение</a:t>
            </a:r>
            <a:r>
              <a:rPr lang="ru-RU" dirty="0"/>
              <a:t>, уникальность</a:t>
            </a:r>
            <a:r>
              <a:rPr lang="ru-RU" dirty="0" smtClean="0"/>
              <a:t>).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Оценка:</a:t>
            </a:r>
            <a:r>
              <a:rPr lang="ru-RU" dirty="0"/>
              <a:t> высокий приоритет – функциональность сохранения и уникальности; средний – интерфейс и поиск</a:t>
            </a:r>
            <a:r>
              <a:rPr lang="ru-RU" dirty="0" smtClean="0"/>
              <a:t>.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Результат:</a:t>
            </a:r>
            <a:r>
              <a:rPr lang="ru-RU" dirty="0"/>
              <a:t> требования реализованы в модуле на C#.</a:t>
            </a:r>
            <a:endParaRPr lang="ru-RU" b="1" i="1" dirty="0">
              <a:solidFill>
                <a:schemeClr val="accent6">
                  <a:lumMod val="75000"/>
                </a:schemeClr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4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функциональной спецификации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764407"/>
            <a:ext cx="3286760" cy="503872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311352" y="1692399"/>
            <a:ext cx="74004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Функциональные </a:t>
            </a:r>
            <a:r>
              <a:rPr lang="ru-RU" sz="1600" b="1" dirty="0" smtClean="0">
                <a:solidFill>
                  <a:srgbClr val="0F1115"/>
                </a:solidFill>
                <a:latin typeface="quote-cjk-patch"/>
              </a:rPr>
              <a:t>требования</a:t>
            </a:r>
          </a:p>
          <a:p>
            <a:r>
              <a:rPr lang="ru-RU" sz="1600" dirty="0" smtClean="0">
                <a:solidFill>
                  <a:srgbClr val="0F1115"/>
                </a:solidFill>
                <a:latin typeface="quote-cjk-patch"/>
              </a:rPr>
              <a:t>Модуль 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«Система учёта деталей самолётов» выполняет следующие функции: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Просмотр списка деталей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отображение всех записей в таблице (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DataGridView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) с возможностью сортировки по столбцам.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Добавление детали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открытие формы ввода с полями: наименование, уникальный номер, тип, дата изготовления, статус, борт самолёта, описание.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Редактирование детали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выбор строки → изменение данных → сохранение.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Удаление детали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подтверждение удаления (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MessageBox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) → удаление записи из списка и из файла JSON.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Поиск детали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текстовый поиск по номеру детали или наименованию (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регистронезависимый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Фильтрация по статусу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выпадающий список (все / на складе / установлена / списана) → динамическое обновление таблицы.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Статистика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автоматический подсчёт общего количества деталей, а также количества по каждому статусу.</a:t>
            </a:r>
          </a:p>
          <a:p>
            <a:pPr>
              <a:buFont typeface="+mj-lt"/>
              <a:buAutoNum type="arabicPeriod"/>
            </a:pPr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Горячие клавиши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 – F5 (обновить), 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Ctrl+N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(добавить), 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Ctrl+E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(редактировать), 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Delete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(удалить), 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Ctrl+F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(фокус на поиск).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0158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синтаксической спецификации входа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tretch>
            <a:fillRect/>
          </a:stretch>
        </p:blipFill>
        <p:spPr>
          <a:xfrm>
            <a:off x="11460" y="1692399"/>
            <a:ext cx="4320480" cy="4870991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54484"/>
              </p:ext>
            </p:extLst>
          </p:nvPr>
        </p:nvGraphicFramePr>
        <p:xfrm>
          <a:off x="4357960" y="1765966"/>
          <a:ext cx="6335441" cy="4797424"/>
        </p:xfrm>
        <a:graphic>
          <a:graphicData uri="http://schemas.openxmlformats.org/drawingml/2006/table">
            <a:tbl>
              <a:tblPr/>
              <a:tblGrid>
                <a:gridCol w="340668"/>
                <a:gridCol w="2448272"/>
                <a:gridCol w="1886002"/>
                <a:gridCol w="1660499"/>
              </a:tblGrid>
              <a:tr h="203752"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effectLst/>
                          <a:latin typeface="quote-cjk-patch"/>
                        </a:rPr>
                        <a:t>Шаг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effectLst/>
                          <a:latin typeface="quote-cjk-patch"/>
                        </a:rPr>
                        <a:t>Действие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effectLst/>
                          <a:latin typeface="quote-cjk-patch"/>
                        </a:rPr>
                        <a:t>Скриншот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4889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Нажать кнопку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«Добавить»</a:t>
                      </a:r>
                      <a:endParaRPr lang="ru-RU" sz="700" b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Открывается форма «Добавление детали»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i="1">
                          <a:effectLst/>
                          <a:latin typeface="quote-cjk-patch"/>
                        </a:rPr>
                        <a:t>Рисунок 5 из отчёта (окно добавления)</a:t>
                      </a:r>
                      <a:endParaRPr lang="ru-RU" sz="700" b="0">
                        <a:effectLst/>
                        <a:latin typeface="quote-cjk-patch"/>
                      </a:endParaRP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Заполнить поле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«Наименование»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(обязательно)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Введён текст (1–100 символов)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Заполнить поле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«Номер детали»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(обязательно, уникальный)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effectLst/>
                          <a:latin typeface="quote-cjk-patch"/>
                        </a:rPr>
                        <a:t>Введён уникальный номер (1–30 символов)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8301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Выбрать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«Тип»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из выпадающего списка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Выбран один из 6 типов (Фюзеляж, Крыло, Двигатель, Шасси, Авионика, Другое)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Выбрать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«Дату изготовления»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(календарь)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Дата не больше текущей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4889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Выбрать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«Статус»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из выпадающего списка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На складе / Установлена / Списана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(Условно) Если статус = «Установлена» – заполнить поле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«Борт самолёта»</a:t>
                      </a:r>
                      <a:endParaRPr lang="ru-RU" sz="700" b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effectLst/>
                          <a:latin typeface="quote-cjk-patch"/>
                        </a:rPr>
                        <a:t>Поле становится обязательным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Заполнить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«Описание»</a:t>
                      </a:r>
                      <a:r>
                        <a:rPr lang="ru-RU" sz="700" b="0">
                          <a:effectLst/>
                          <a:latin typeface="quote-cjk-patch"/>
                        </a:rPr>
                        <a:t> (необязательно, до 500 символов)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Введён текст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Нажать кнопку </a:t>
                      </a:r>
                      <a:r>
                        <a:rPr lang="ru-RU" sz="700" b="1">
                          <a:effectLst/>
                          <a:latin typeface="quote-cjk-patch"/>
                        </a:rPr>
                        <a:t>«Сохранить»</a:t>
                      </a:r>
                      <a:endParaRPr lang="ru-RU" sz="700" b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Проверка валидации → если ошибок нет, деталь добавляется в таблицу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i="1">
                          <a:effectLst/>
                          <a:latin typeface="quote-cjk-patch"/>
                        </a:rPr>
                        <a:t>Рисунок 5 – пример заполненной формы</a:t>
                      </a:r>
                      <a:endParaRPr lang="ru-RU" sz="700" b="0">
                        <a:effectLst/>
                        <a:latin typeface="quote-cjk-patch"/>
                      </a:endParaRP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При ошибке (пустое наименование/номер, дубликат номера)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Появляется сообщение об ошибке, сохранение не происходит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i="1" dirty="0">
                          <a:effectLst/>
                          <a:latin typeface="quote-cjk-patch"/>
                        </a:rPr>
                        <a:t>Можно добавить скриншот сообщения об ошибке</a:t>
                      </a:r>
                      <a:endParaRPr lang="ru-RU" sz="700" b="0" dirty="0">
                        <a:effectLst/>
                        <a:latin typeface="quote-cjk-patch"/>
                      </a:endParaRPr>
                    </a:p>
                  </a:txBody>
                  <a:tcPr marL="74092" marR="44455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5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r>
              <a:rPr lang="ru-RU" sz="1600" b="0" dirty="0"/>
              <a:t>Описание структуры данных модуля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10596" y="4068663"/>
            <a:ext cx="532859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«Структура данных описана в классе </a:t>
            </a:r>
            <a:r>
              <a:rPr lang="ru-RU" i="1" dirty="0" err="1"/>
              <a:t>Part</a:t>
            </a:r>
            <a:r>
              <a:rPr lang="ru-RU" i="1" dirty="0"/>
              <a:t>, перечислениях </a:t>
            </a:r>
            <a:r>
              <a:rPr lang="ru-RU" i="1" dirty="0" err="1"/>
              <a:t>PartType</a:t>
            </a:r>
            <a:r>
              <a:rPr lang="ru-RU" i="1" dirty="0"/>
              <a:t> и </a:t>
            </a:r>
            <a:r>
              <a:rPr lang="ru-RU" i="1" dirty="0" err="1"/>
              <a:t>PartStatus</a:t>
            </a:r>
            <a:r>
              <a:rPr lang="ru-RU" i="1" dirty="0"/>
              <a:t>. Хранение – JSON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836415"/>
            <a:ext cx="3999508" cy="4752528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4122564" y="1853158"/>
            <a:ext cx="6264696" cy="192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Выбор языка программирования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1024197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Выбран </a:t>
            </a:r>
            <a:r>
              <a:rPr lang="en-US" b="1" dirty="0"/>
              <a:t>C# (.NET 6) </a:t>
            </a:r>
            <a:r>
              <a:rPr lang="ru-RU" b="1" dirty="0"/>
              <a:t>в </a:t>
            </a:r>
            <a:r>
              <a:rPr lang="en-US" b="1" dirty="0"/>
              <a:t>Visual Studio </a:t>
            </a:r>
            <a:r>
              <a:rPr lang="en-US" b="1" dirty="0" smtClean="0"/>
              <a:t>202</a:t>
            </a:r>
            <a:r>
              <a:rPr lang="ru-RU" b="1" dirty="0" smtClean="0"/>
              <a:t>6.</a:t>
            </a:r>
            <a:r>
              <a:rPr lang="en-US" dirty="0"/>
              <a:t/>
            </a:r>
            <a:br>
              <a:rPr lang="en-US" dirty="0"/>
            </a:br>
            <a:r>
              <a:rPr lang="ru-RU" b="1" dirty="0"/>
              <a:t>Причины:</a:t>
            </a:r>
            <a:r>
              <a:rPr lang="ru-RU" dirty="0"/>
              <a:t> </a:t>
            </a:r>
            <a:r>
              <a:rPr lang="en-US" dirty="0"/>
              <a:t>Windows Forms, </a:t>
            </a:r>
            <a:r>
              <a:rPr lang="en-US" dirty="0" err="1"/>
              <a:t>Newtonsoft.Json</a:t>
            </a:r>
            <a:r>
              <a:rPr lang="en-US" dirty="0"/>
              <a:t>, </a:t>
            </a:r>
            <a:r>
              <a:rPr lang="ru-RU" dirty="0"/>
              <a:t>библиотека классов.</a:t>
            </a:r>
            <a:br>
              <a:rPr lang="ru-RU" dirty="0"/>
            </a:br>
            <a:r>
              <a:rPr lang="ru-RU" b="1" dirty="0"/>
              <a:t>Скриншоты:</a:t>
            </a:r>
            <a:r>
              <a:rPr lang="ru-RU" dirty="0"/>
              <a:t> Рисунок </a:t>
            </a:r>
            <a:r>
              <a:rPr lang="ru-RU" dirty="0" smtClean="0"/>
              <a:t>8, </a:t>
            </a:r>
            <a:r>
              <a:rPr lang="ru-RU" dirty="0"/>
              <a:t>Рисунок </a:t>
            </a:r>
            <a:r>
              <a:rPr lang="ru-RU" dirty="0" smtClean="0"/>
              <a:t>6</a:t>
            </a:r>
            <a:r>
              <a:rPr lang="en-US" dirty="0" smtClean="0"/>
              <a:t>, </a:t>
            </a:r>
            <a:r>
              <a:rPr lang="ru-RU" dirty="0"/>
              <a:t>Рисунок </a:t>
            </a:r>
            <a:r>
              <a:rPr lang="ru-RU" dirty="0" smtClean="0"/>
              <a:t>1.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14" name="Рисунок 13"/>
          <p:cNvPicPr/>
          <p:nvPr/>
        </p:nvPicPr>
        <p:blipFill>
          <a:blip r:embed="rId2"/>
          <a:stretch>
            <a:fillRect/>
          </a:stretch>
        </p:blipFill>
        <p:spPr>
          <a:xfrm>
            <a:off x="2580" y="2970252"/>
            <a:ext cx="3869690" cy="4591011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553865" y="2970252"/>
            <a:ext cx="2368899" cy="4591011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4"/>
          <a:stretch>
            <a:fillRect/>
          </a:stretch>
        </p:blipFill>
        <p:spPr>
          <a:xfrm>
            <a:off x="5778748" y="2628503"/>
            <a:ext cx="5086662" cy="358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Программирование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51428" y="1908423"/>
            <a:ext cx="96796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-3278" y="1781573"/>
            <a:ext cx="10693400" cy="2677656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1.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Создать решение с двумя проектами в VS 2026 (библиотека классов +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Windows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Forms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Разработать классы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PartType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PartStatus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репозиторий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JsonPartRepository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3.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Создать формы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MainForm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PartEditForm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4.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Реализовать CRUD, поиск, фильтр, проверку уникальности.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5.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Подключить 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Newtonsoft.Json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для работы с JSON.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974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Компиляция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765450"/>
            <a:ext cx="10693400" cy="188954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Компиляция модуля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 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Visual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Studio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2026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открыть решение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AircraftPartsSolution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меню выбрать 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Build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Rebuild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(или нажать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Ctrl+Shift+B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Дождаться завершения сборки. Убедиться, что в окне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«Вывод»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появилось сообщение:</a:t>
            </a:r>
            <a:b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Сборка: 2 успешно, 0 с ошибками, 0 изменено, 0 пропущено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0775" y="3736724"/>
            <a:ext cx="8265294" cy="254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1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Отладка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" y="1765450"/>
            <a:ext cx="10693399" cy="2935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Установить 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точку останова (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breakpoint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в коде, например, в методе 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BtnSave_Click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на строке проверки уникальности номера детали (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if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(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Part.Id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== 0)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 отладку, нажав 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F5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(или кнопку «Старт»).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Выполнить действие, которое должно привести к срабатыванию точки останова (например, попробовать добавить новую деталь).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Когда выполнение остановится (строка станет жёлтой), проверить значения переменных, наведя курсор мыши (например, 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txtPartNumber.Text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Используя клавиши 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F10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(шаг с обходом) и 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F11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(шаг с заходом), проследить дальнейшее выполнение кода.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Завершить отладку (Shift+F5) или продолжить выполнение (F5).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4684002"/>
            <a:ext cx="87310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Что проверялось в процессе отладки:</a:t>
            </a:r>
            <a:endParaRPr lang="ru-RU" sz="16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Корректность проверки уникальности номера детали.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Правильность активации поля «Борт самолёта» при выборе статуса «Установлена».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Сохранение данных в </a:t>
            </a:r>
            <a:r>
              <a:rPr lang="ru-RU" sz="1600" dirty="0" err="1">
                <a:solidFill>
                  <a:srgbClr val="0F1115"/>
                </a:solidFill>
                <a:latin typeface="quote-cjk-patch"/>
              </a:rPr>
              <a:t>репозиторий</a:t>
            </a:r>
            <a:r>
              <a:rPr lang="ru-RU" sz="1600" dirty="0">
                <a:solidFill>
                  <a:srgbClr val="0F1115"/>
                </a:solidFill>
                <a:latin typeface="quote-cjk-patch"/>
              </a:rPr>
              <a:t> и обновление таблицы.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8493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Разработка тестовых сценариев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62954" y="1692399"/>
            <a:ext cx="814595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Последовательность выполненных действий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Анализ функциональных требований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– выделены основные операции: добавление, редактирование, удаление, поиск, фильтрация, проверка уникальности.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Составление перечня тест-кейсов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– для каждой функции определены нормальные и аномальные сценарии (всего 10 тестов).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Документирование сценариев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– оформлена таблица с колонками: ID, сценарий, ожидаемый результат, фактический результат (см. </a:t>
            </a: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Таблица 4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в отчёте).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Ручное выполнение тестов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– поочерёдно запускалось приложение, выполнялись шаги, фиксировался результат.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solidFill>
                  <a:srgbClr val="0F1115"/>
                </a:solidFill>
                <a:latin typeface="quote-cjk-patch"/>
              </a:rPr>
              <a:t>Оценка результатов</a:t>
            </a:r>
            <a:r>
              <a:rPr lang="ru-RU" sz="1400" dirty="0">
                <a:solidFill>
                  <a:srgbClr val="0F1115"/>
                </a:solidFill>
                <a:latin typeface="quote-cjk-patch"/>
              </a:rPr>
              <a:t> – все обязательные сценарии пройдены успешно (зелёная отметка).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79889"/>
              </p:ext>
            </p:extLst>
          </p:nvPr>
        </p:nvGraphicFramePr>
        <p:xfrm>
          <a:off x="0" y="4818642"/>
          <a:ext cx="9217023" cy="2849880"/>
        </p:xfrm>
        <a:graphic>
          <a:graphicData uri="http://schemas.openxmlformats.org/drawingml/2006/table">
            <a:tbl>
              <a:tblPr/>
              <a:tblGrid>
                <a:gridCol w="864096"/>
                <a:gridCol w="4176464"/>
                <a:gridCol w="4176463"/>
              </a:tblGrid>
              <a:tr h="25332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ID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Сценарий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739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TC-1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Добавление детали с корректными данными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Деталь появляется в таблице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332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Добавление с пустым наименованием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Сообщение об ошибке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739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TC-3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Добавление с существующим номером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Сообщение «Деталь с таким номером уже существует»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739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TC-4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Поиск по номеру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Таблица показывает только найденную деталь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7396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Фильтр «На складе»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Показаны только детали со статусом «На складе»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3944756"/>
            <a:ext cx="7757864" cy="873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Таблица 4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скриншот таблицы тестовых сценариев из отчёта (или сама таблица, вставленная в слайд).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Пример тестовых сценариев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95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Модульное тестирование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4" y="2123906"/>
            <a:ext cx="10693276" cy="41055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Последовательность выполненных действий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Установить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фреймворк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NUnit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NUnit3TestAdapter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через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NuGet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в проект тестирования (или в проект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AircraftPartsLibrary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Написать тестовый класс с методом, проверяющим метод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репозитория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GetByPartNumber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csharp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383A4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Test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GetByPartNumber_Existing_ReturnsPart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repo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JsonPartRepository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test.json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repo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GetByPartNumber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"КГ-112-05"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Assert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IsNotNull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part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 тесты через меню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Тест → Запустить все тесты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(или 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Ctrl+R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, A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Проверить результат в 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Обозревателе тестов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Test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Explorer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): все тесты должны быть зелёными (пройдены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успешно).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3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Тестирование производительности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26950" y="1498979"/>
            <a:ext cx="10720350" cy="3322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Последовательность выполненных действий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коде метода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MainForm.LoadParts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(или в отдельном тестовом методе) добавить замер времени с помощью класса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Stopwatch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csharp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using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System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Diagnostics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Stopwatch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Stopwatch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StartNew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1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Menlo"/>
              </a:rPr>
              <a:t>// ... загрузка 1000 записей в </a:t>
            </a:r>
            <a:r>
              <a:rPr kumimoji="0" lang="ru-RU" altLang="ru-RU" sz="1400" b="0" i="1" u="none" strike="noStrike" cap="none" normalizeH="0" baseline="0" dirty="0" err="1" smtClean="0">
                <a:ln>
                  <a:noFill/>
                </a:ln>
                <a:solidFill>
                  <a:schemeClr val="accent6"/>
                </a:solidFill>
                <a:effectLst/>
                <a:latin typeface="Menlo"/>
              </a:rPr>
              <a:t>DataGridView</a:t>
            </a:r>
            <a:r>
              <a:rPr kumimoji="0" lang="ru-RU" altLang="ru-RU" sz="1400" b="0" i="1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Menlo"/>
              </a:rPr>
              <a:t> ...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Stop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Debug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WriteLine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$"Загрузка 1000 записей: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Elapsed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TotalSeconds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: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F2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 с"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Создать тестовые данные (1000 записей) – либо сгенерировать циклом, либо загрузить из файла.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 приложение в режиме отладки (F5).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После выполнения операции просмотреть вывод в окне 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«Вывод» (</a:t>
            </a:r>
            <a:r>
              <a:rPr kumimoji="0" lang="ru-RU" altLang="ru-RU" sz="1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Output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Visual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Studio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(или в консоли, если используется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Console.WriteLine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Повторить замеры для операций: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Поиск по номеру среди 1000 записей.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Сохранение 1000 записей в JSON (вызов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SaveData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Зафиксировать результаты в таблице (см. 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Таблица 5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отчёта).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328276"/>
              </p:ext>
            </p:extLst>
          </p:nvPr>
        </p:nvGraphicFramePr>
        <p:xfrm>
          <a:off x="-45206" y="5182809"/>
          <a:ext cx="7173850" cy="1493520"/>
        </p:xfrm>
        <a:graphic>
          <a:graphicData uri="http://schemas.openxmlformats.org/drawingml/2006/table">
            <a:tbl>
              <a:tblPr/>
              <a:tblGrid>
                <a:gridCol w="3586925"/>
                <a:gridCol w="3586925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Операция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Время выполнения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Загрузка 1000 записей в DataGridView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0,2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Поиск по номеру среди 1000 записей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&lt;0,05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Сохранение 1000 записей в JSON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0,1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-26950" y="4877672"/>
            <a:ext cx="4797586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Таблица 5 – Результаты тестирования производительности</a:t>
            </a:r>
            <a:endParaRPr kumimoji="0" lang="ru-RU" altLang="ru-RU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27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8744" y="1213775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Загрузка программного модуля в </a:t>
            </a:r>
            <a:r>
              <a:rPr lang="ru-RU" sz="1700" b="0" dirty="0" err="1" smtClean="0"/>
              <a:t>репозиторий</a:t>
            </a:r>
            <a:r>
              <a:rPr lang="ru-RU" sz="1700" b="0" dirty="0" smtClean="0"/>
              <a:t> </a:t>
            </a:r>
            <a:r>
              <a:rPr lang="en-US" sz="1700" b="0" dirty="0" smtClean="0">
                <a:solidFill>
                  <a:srgbClr val="E60000"/>
                </a:solidFill>
              </a:rPr>
              <a:t>GitHub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2967" y="1980431"/>
            <a:ext cx="9616457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Создать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 на </a:t>
            </a:r>
            <a:r>
              <a:rPr lang="en-US" sz="1900" dirty="0" smtClean="0"/>
              <a:t>GitHu</a:t>
            </a:r>
            <a:r>
              <a:rPr lang="en-US" sz="1900" dirty="0"/>
              <a:t>b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Перейти в папку с проектами практики и инициализировать новый </a:t>
            </a:r>
            <a:r>
              <a:rPr lang="ru-RU" sz="1900" dirty="0" err="1"/>
              <a:t>репозиторий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проекты в индекс и осуществить первый </a:t>
            </a:r>
            <a:r>
              <a:rPr lang="ru-RU" sz="1900" dirty="0" err="1"/>
              <a:t>коммит</a:t>
            </a:r>
            <a:r>
              <a:rPr lang="ru-RU" sz="1900" dirty="0"/>
              <a:t> изменений</a:t>
            </a:r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локальному </a:t>
            </a:r>
            <a:r>
              <a:rPr lang="ru-RU" sz="1900" dirty="0" err="1"/>
              <a:t>репозиторию</a:t>
            </a:r>
            <a:r>
              <a:rPr lang="ru-RU" sz="1900" dirty="0"/>
              <a:t> ссылку на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, после чего сделать команду </a:t>
            </a:r>
            <a:r>
              <a:rPr lang="ru-RU" sz="1900" dirty="0" err="1"/>
              <a:t>push</a:t>
            </a:r>
            <a:r>
              <a:rPr lang="ru-RU" sz="1900" dirty="0"/>
              <a:t> в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 </a:t>
            </a:r>
            <a:r>
              <a:rPr lang="ru-RU" sz="1900" dirty="0" err="1"/>
              <a:t>git</a:t>
            </a:r>
            <a:r>
              <a:rPr lang="ru-RU" sz="1900" dirty="0"/>
              <a:t> </a:t>
            </a:r>
            <a:r>
              <a:rPr lang="ru-RU" sz="1900" dirty="0" err="1"/>
              <a:t>push</a:t>
            </a:r>
            <a:r>
              <a:rPr lang="ru-RU" sz="1900" dirty="0"/>
              <a:t> </a:t>
            </a:r>
            <a:r>
              <a:rPr lang="ru-RU" sz="1900" dirty="0" err="1"/>
              <a:t>origin</a:t>
            </a:r>
            <a:r>
              <a:rPr lang="ru-RU" sz="1900" dirty="0"/>
              <a:t> </a:t>
            </a:r>
            <a:r>
              <a:rPr lang="ru-RU" sz="1900" dirty="0" err="1" smtClean="0"/>
              <a:t>master</a:t>
            </a:r>
            <a:r>
              <a:rPr lang="en-US" sz="1900" dirty="0" smtClean="0"/>
              <a:t>(main)</a:t>
            </a:r>
            <a:r>
              <a:rPr lang="ru-RU" sz="1900" dirty="0" smtClean="0"/>
              <a:t>, </a:t>
            </a:r>
            <a:r>
              <a:rPr lang="ru-RU" sz="1900" dirty="0"/>
              <a:t>тем самым отправив локальную ветку </a:t>
            </a:r>
            <a:r>
              <a:rPr lang="ru-RU" sz="1900" dirty="0" err="1"/>
              <a:t>master</a:t>
            </a:r>
            <a:r>
              <a:rPr lang="ru-RU" sz="1900" dirty="0"/>
              <a:t> на сервер </a:t>
            </a:r>
            <a:r>
              <a:rPr lang="ru-RU" sz="1900" dirty="0" err="1"/>
              <a:t>origin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Продемонстрировать добавленные файлы на </a:t>
            </a:r>
            <a:r>
              <a:rPr lang="en-US" sz="1900" dirty="0" smtClean="0"/>
              <a:t>GitHub</a:t>
            </a:r>
            <a:endParaRPr lang="ru-RU" sz="1900" dirty="0" smtClean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endParaRPr lang="ru-RU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234132" y="6804967"/>
            <a:ext cx="8352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u="sng" dirty="0" smtClean="0">
                <a:solidFill>
                  <a:srgbClr val="FF0000"/>
                </a:solidFill>
              </a:rPr>
              <a:t>Ссылка на </a:t>
            </a:r>
            <a:r>
              <a:rPr lang="ru-RU" b="1" i="1" u="sng" dirty="0" err="1" smtClean="0">
                <a:solidFill>
                  <a:srgbClr val="FF0000"/>
                </a:solidFill>
              </a:rPr>
              <a:t>репозиторий</a:t>
            </a:r>
            <a:r>
              <a:rPr lang="en-US" b="1" i="1" u="sng" dirty="0">
                <a:solidFill>
                  <a:srgbClr val="FF0000"/>
                </a:solidFill>
              </a:rPr>
              <a:t>: </a:t>
            </a:r>
            <a:r>
              <a:rPr lang="en-US" b="1" i="1" u="sng" dirty="0">
                <a:solidFill>
                  <a:srgbClr val="0070C0"/>
                </a:solidFill>
              </a:rPr>
              <a:t>https://github.com/Vida-jiest/AircraftPartsManager.git</a:t>
            </a:r>
            <a:endParaRPr lang="ru-RU" b="1" i="1" u="sng" dirty="0">
              <a:solidFill>
                <a:srgbClr val="0070C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28" y="4140671"/>
            <a:ext cx="726932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825" y="1764408"/>
            <a:ext cx="10710225" cy="4824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1. </a:t>
            </a:r>
            <a:r>
              <a:rPr lang="ru-RU" sz="2000" b="1" dirty="0" smtClean="0"/>
              <a:t>Разработана </a:t>
            </a:r>
            <a:r>
              <a:rPr lang="ru-RU" sz="2000" b="1" dirty="0"/>
              <a:t>полнофункциональная информационная система</a:t>
            </a:r>
            <a:r>
              <a:rPr lang="ru-RU" sz="2000" dirty="0"/>
              <a:t> учёта деталей самолётов на языке C# с использованием </a:t>
            </a:r>
            <a:r>
              <a:rPr lang="ru-RU" sz="2000" dirty="0" err="1"/>
              <a:t>Windows</a:t>
            </a:r>
            <a:r>
              <a:rPr lang="ru-RU" sz="2000" dirty="0"/>
              <a:t> </a:t>
            </a:r>
            <a:r>
              <a:rPr lang="ru-RU" sz="2000" dirty="0" err="1"/>
              <a:t>Forms</a:t>
            </a:r>
            <a:r>
              <a:rPr lang="ru-RU" sz="2000" dirty="0"/>
              <a:t>, библиотеки классов и JSON-хранилища. Система полностью соответствует требованиям АО «Концерн КЭМЗ».</a:t>
            </a:r>
          </a:p>
          <a:p>
            <a:r>
              <a:rPr lang="en-US" sz="2000" b="1" dirty="0" smtClean="0"/>
              <a:t>2. </a:t>
            </a:r>
            <a:r>
              <a:rPr lang="ru-RU" sz="2000" b="1" dirty="0" smtClean="0"/>
              <a:t>Автоматизированы </a:t>
            </a:r>
            <a:r>
              <a:rPr lang="ru-RU" sz="2000" b="1" dirty="0"/>
              <a:t>основные бизнес-процессы</a:t>
            </a:r>
            <a:r>
              <a:rPr lang="ru-RU" sz="2000" dirty="0"/>
              <a:t> подразделения: добавление, редактирование, удаление, поиск, фильтрация по статусу (на складе / установлена / списана), а также статистика и экспорт в CSV.</a:t>
            </a:r>
          </a:p>
          <a:p>
            <a:r>
              <a:rPr lang="en-US" sz="2000" b="1" dirty="0" smtClean="0"/>
              <a:t>3. </a:t>
            </a:r>
            <a:r>
              <a:rPr lang="ru-RU" sz="2000" b="1" dirty="0" smtClean="0"/>
              <a:t>Обеспечена </a:t>
            </a:r>
            <a:r>
              <a:rPr lang="ru-RU" sz="2000" b="1" dirty="0"/>
              <a:t>надёжность хранения данных</a:t>
            </a:r>
            <a:r>
              <a:rPr lang="ru-RU" sz="2000" dirty="0"/>
              <a:t> благодаря </a:t>
            </a:r>
            <a:r>
              <a:rPr lang="ru-RU" sz="2000" dirty="0" err="1"/>
              <a:t>сериализации</a:t>
            </a:r>
            <a:r>
              <a:rPr lang="ru-RU" sz="2000" dirty="0"/>
              <a:t> в JSON с </a:t>
            </a:r>
            <a:r>
              <a:rPr lang="ru-RU" sz="2000" dirty="0" err="1"/>
              <a:t>автосохранением</a:t>
            </a:r>
            <a:r>
              <a:rPr lang="ru-RU" sz="2000" dirty="0"/>
              <a:t> после каждого изменения и проверкой уникальности номера детали, что исключает дублирование записей.</a:t>
            </a:r>
          </a:p>
          <a:p>
            <a:r>
              <a:rPr lang="en-US" sz="2000" b="1" dirty="0" smtClean="0"/>
              <a:t>4. </a:t>
            </a:r>
            <a:r>
              <a:rPr lang="ru-RU" sz="2000" b="1" dirty="0" smtClean="0"/>
              <a:t>Создан </a:t>
            </a:r>
            <a:r>
              <a:rPr lang="ru-RU" sz="2000" b="1" dirty="0"/>
              <a:t>удобный русскоязычный интерфейс</a:t>
            </a:r>
            <a:r>
              <a:rPr lang="ru-RU" sz="2000" dirty="0"/>
              <a:t> с горячими клавишами, контекстным меню и интуитивно понятными формами, что снижает время работы сотрудников и вероятность ошибок.</a:t>
            </a:r>
          </a:p>
          <a:p>
            <a:r>
              <a:rPr lang="en-US" sz="2000" b="1" dirty="0" smtClean="0"/>
              <a:t>5. </a:t>
            </a:r>
            <a:r>
              <a:rPr lang="ru-RU" sz="2000" b="1" dirty="0" smtClean="0"/>
              <a:t>Проведено </a:t>
            </a:r>
            <a:r>
              <a:rPr lang="ru-RU" sz="2000" b="1" dirty="0"/>
              <a:t>полное тестирование</a:t>
            </a:r>
            <a:r>
              <a:rPr lang="ru-RU" sz="2000" dirty="0"/>
              <a:t> (функциональное, модульное, производительности). Все тесты пройдены успешно, код загружен в </a:t>
            </a:r>
            <a:r>
              <a:rPr lang="ru-RU" sz="2000" dirty="0" err="1"/>
              <a:t>репозиторий</a:t>
            </a:r>
            <a:r>
              <a:rPr lang="ru-RU" sz="2000" dirty="0"/>
              <a:t> </a:t>
            </a:r>
            <a:r>
              <a:rPr lang="ru-RU" sz="2000" dirty="0" err="1"/>
              <a:t>GitHub</a:t>
            </a:r>
            <a:r>
              <a:rPr lang="ru-RU" sz="2000" dirty="0"/>
              <a:t>, что подтверждает готовность модуля к внедрению в производственную деятельность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 smtClean="0"/>
              <a:t>Список используемой литературы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2399"/>
            <a:ext cx="10693400" cy="3672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1.</a:t>
            </a:r>
            <a:r>
              <a:rPr lang="ru-RU" sz="2000" dirty="0" smtClean="0"/>
              <a:t>Концерн </a:t>
            </a:r>
            <a:r>
              <a:rPr lang="ru-RU" sz="2000" dirty="0"/>
              <a:t>КЭМЗ (</a:t>
            </a:r>
            <a:r>
              <a:rPr lang="ru-RU" sz="2000" dirty="0" err="1"/>
              <a:t>Кизлярский</a:t>
            </a:r>
            <a:r>
              <a:rPr lang="ru-RU" sz="2000" dirty="0"/>
              <a:t> электромеханический завод). Официальный сайт. – URL: </a:t>
            </a:r>
            <a:r>
              <a:rPr lang="ru-RU" sz="2000" dirty="0">
                <a:hlinkClick r:id="rId2"/>
              </a:rPr>
              <a:t>https://kemz.ru</a:t>
            </a:r>
            <a:endParaRPr lang="ru-RU" sz="2000" dirty="0"/>
          </a:p>
          <a:p>
            <a:pPr marL="0" indent="0">
              <a:buNone/>
            </a:pPr>
            <a:r>
              <a:rPr lang="en-US" sz="2000" dirty="0" smtClean="0"/>
              <a:t>2. </a:t>
            </a:r>
            <a:r>
              <a:rPr lang="ru-RU" sz="2000" dirty="0" smtClean="0"/>
              <a:t>ГОСТ </a:t>
            </a:r>
            <a:r>
              <a:rPr lang="ru-RU" sz="2000" dirty="0"/>
              <a:t>12.2.032-78. ССБТ. Рабочее место при выполнении работ сидя. – М.: </a:t>
            </a:r>
            <a:r>
              <a:rPr lang="ru-RU" sz="2000" dirty="0" err="1"/>
              <a:t>Стандартинформ</a:t>
            </a:r>
            <a:r>
              <a:rPr lang="ru-RU" sz="2000" dirty="0"/>
              <a:t>, 2000.</a:t>
            </a:r>
          </a:p>
          <a:p>
            <a:pPr marL="0" indent="0">
              <a:buNone/>
            </a:pPr>
            <a:r>
              <a:rPr lang="en-US" sz="2000" dirty="0" smtClean="0"/>
              <a:t>3. </a:t>
            </a:r>
            <a:r>
              <a:rPr lang="ru-RU" sz="2000" dirty="0" smtClean="0"/>
              <a:t>СанПиН </a:t>
            </a:r>
            <a:r>
              <a:rPr lang="ru-RU" sz="2000" dirty="0"/>
              <a:t>1.2.3685-21 «Гигиенические нормативы и требования к обеспечению безопасности…». – М.: </a:t>
            </a:r>
            <a:r>
              <a:rPr lang="ru-RU" sz="2000" dirty="0" err="1"/>
              <a:t>Роспотребнадзор</a:t>
            </a:r>
            <a:r>
              <a:rPr lang="ru-RU" sz="2000" dirty="0"/>
              <a:t>, 2021.</a:t>
            </a:r>
          </a:p>
          <a:p>
            <a:pPr marL="0" indent="0">
              <a:buNone/>
            </a:pPr>
            <a:r>
              <a:rPr lang="en-US" sz="2000" dirty="0" smtClean="0"/>
              <a:t>4. </a:t>
            </a:r>
            <a:r>
              <a:rPr lang="ru-RU" sz="2000" dirty="0" err="1" smtClean="0"/>
              <a:t>Microsoft</a:t>
            </a:r>
            <a:r>
              <a:rPr lang="ru-RU" sz="2000" dirty="0" smtClean="0"/>
              <a:t> </a:t>
            </a:r>
            <a:r>
              <a:rPr lang="ru-RU" sz="2000" dirty="0" err="1"/>
              <a:t>Docs</a:t>
            </a:r>
            <a:r>
              <a:rPr lang="ru-RU" sz="2000" dirty="0"/>
              <a:t>. </a:t>
            </a:r>
            <a:r>
              <a:rPr lang="ru-RU" sz="2000" dirty="0" err="1"/>
              <a:t>Windows</a:t>
            </a:r>
            <a:r>
              <a:rPr lang="ru-RU" sz="2000" dirty="0"/>
              <a:t> </a:t>
            </a:r>
            <a:r>
              <a:rPr lang="ru-RU" sz="2000" dirty="0" err="1"/>
              <a:t>Forms</a:t>
            </a:r>
            <a:r>
              <a:rPr lang="ru-RU" sz="2000" dirty="0"/>
              <a:t> для .NET. – URL: </a:t>
            </a:r>
            <a:r>
              <a:rPr lang="ru-RU" sz="2000" dirty="0">
                <a:hlinkClick r:id="rId3"/>
              </a:rPr>
              <a:t>https://learn.microsoft.com/ru-ru/dotnet/desktop/winforms/</a:t>
            </a:r>
            <a:endParaRPr lang="ru-RU" sz="2000" dirty="0"/>
          </a:p>
          <a:p>
            <a:pPr marL="0" indent="0">
              <a:buNone/>
            </a:pPr>
            <a:r>
              <a:rPr lang="en-US" sz="2000" dirty="0" smtClean="0"/>
              <a:t>5. </a:t>
            </a:r>
            <a:r>
              <a:rPr lang="ru-RU" sz="2000" dirty="0" err="1" smtClean="0"/>
              <a:t>Newtonsoft.Json</a:t>
            </a:r>
            <a:r>
              <a:rPr lang="ru-RU" sz="2000" dirty="0"/>
              <a:t>. Документация. – URL: </a:t>
            </a:r>
            <a:r>
              <a:rPr lang="ru-RU" sz="2000" dirty="0">
                <a:hlinkClick r:id="rId4"/>
              </a:rPr>
              <a:t>https://www.newtonsoft.com/json</a:t>
            </a:r>
            <a:endParaRPr lang="ru-RU" sz="2000" dirty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ru-RU" sz="2000" dirty="0" err="1" smtClean="0"/>
              <a:t>Албахари</a:t>
            </a:r>
            <a:r>
              <a:rPr lang="ru-RU" sz="2000" dirty="0" smtClean="0"/>
              <a:t> </a:t>
            </a:r>
            <a:r>
              <a:rPr lang="ru-RU" sz="2000" dirty="0"/>
              <a:t>Д. C# 9.0. Справочник. – М.: Вильямс, 2021. – 1040 с.</a:t>
            </a:r>
          </a:p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ru-RU" sz="2000" dirty="0" err="1" smtClean="0"/>
              <a:t>Троелсен</a:t>
            </a:r>
            <a:r>
              <a:rPr lang="ru-RU" sz="2000" dirty="0" smtClean="0"/>
              <a:t> </a:t>
            </a:r>
            <a:r>
              <a:rPr lang="ru-RU" sz="2000" dirty="0"/>
              <a:t>Э., </a:t>
            </a:r>
            <a:r>
              <a:rPr lang="ru-RU" sz="2000" dirty="0" err="1"/>
              <a:t>Джепикс</a:t>
            </a:r>
            <a:r>
              <a:rPr lang="ru-RU" sz="2000" dirty="0"/>
              <a:t> Ф. C# 7.0 и платформа .NET </a:t>
            </a:r>
            <a:r>
              <a:rPr lang="ru-RU" sz="2000" dirty="0" err="1"/>
              <a:t>Core</a:t>
            </a:r>
            <a:r>
              <a:rPr lang="ru-RU" sz="2000" dirty="0"/>
              <a:t>. – М.: ДМК Пресс, 2018. – 1328 с.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ru-RU" sz="2000" dirty="0" err="1" smtClean="0"/>
              <a:t>GitHub</a:t>
            </a:r>
            <a:r>
              <a:rPr lang="ru-RU" sz="2000" dirty="0" smtClean="0"/>
              <a:t> </a:t>
            </a:r>
            <a:r>
              <a:rPr lang="ru-RU" sz="2000" dirty="0" err="1"/>
              <a:t>Guides</a:t>
            </a:r>
            <a:r>
              <a:rPr lang="ru-RU" sz="2000" dirty="0"/>
              <a:t>. Работа с удалёнными </a:t>
            </a:r>
            <a:r>
              <a:rPr lang="ru-RU" sz="2000" dirty="0" err="1"/>
              <a:t>репозиториями</a:t>
            </a:r>
            <a:r>
              <a:rPr lang="ru-RU" sz="2000" dirty="0"/>
              <a:t>. – URL: </a:t>
            </a:r>
            <a:r>
              <a:rPr lang="ru-RU" sz="2000" dirty="0">
                <a:hlinkClick r:id="rId5"/>
              </a:rPr>
              <a:t>https://docs.github.com/ru</a:t>
            </a:r>
            <a:endParaRPr lang="ru-RU" sz="2000" dirty="0"/>
          </a:p>
          <a:p>
            <a:pPr marL="0" indent="0">
              <a:buNone/>
            </a:pPr>
            <a:r>
              <a:rPr lang="en-US" sz="2000" dirty="0" smtClean="0"/>
              <a:t>9. </a:t>
            </a:r>
            <a:r>
              <a:rPr lang="ru-RU" sz="2000" dirty="0" smtClean="0"/>
              <a:t>Методические </a:t>
            </a:r>
            <a:r>
              <a:rPr lang="ru-RU" sz="2000" dirty="0"/>
              <a:t>указания по прохождению практики (внутренний документ техникума).</a:t>
            </a:r>
          </a:p>
          <a:p>
            <a:pPr marL="0" indent="0">
              <a:buNone/>
            </a:pPr>
            <a:r>
              <a:rPr lang="en-US" sz="2000" dirty="0" smtClean="0"/>
              <a:t>10. </a:t>
            </a:r>
            <a:r>
              <a:rPr lang="ru-RU" sz="2000" dirty="0" smtClean="0"/>
              <a:t>Инструкция </a:t>
            </a:r>
            <a:r>
              <a:rPr lang="ru-RU" sz="2000" dirty="0"/>
              <a:t>по охране труда оператора ПЭВМ (АО «Концерн КЭМЗ», 2024 г.).</a:t>
            </a:r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2605</TotalTime>
  <Words>1024</Words>
  <Application>Microsoft Office PowerPoint</Application>
  <PresentationFormat>Произвольный</PresentationFormat>
  <Paragraphs>272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Courier New</vt:lpstr>
      <vt:lpstr>Menlo</vt:lpstr>
      <vt:lpstr>quote-cjk-patch</vt:lpstr>
      <vt:lpstr>Times New Roman</vt:lpstr>
      <vt:lpstr>Тема Office</vt:lpstr>
      <vt:lpstr>   ОТЧЕТ  о прохождении производственной практики   по профессиональному модулю ПМ.01 Разработка программных модулей программного обеспечения компьютерных систем  в период с «__» _________ 20__ г. по «__» _________ 20__ г.  Специальность 09.02.07 Информационные системы и программирование  </vt:lpstr>
      <vt:lpstr>Содержание</vt:lpstr>
      <vt:lpstr>Организационный этап</vt:lpstr>
      <vt:lpstr>Техника безопасности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Разработка спецификаций</vt:lpstr>
      <vt:lpstr>Разработка спецификаций</vt:lpstr>
      <vt:lpstr>Разработка спецификаций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rpk2024.6</cp:lastModifiedBy>
  <cp:revision>342</cp:revision>
  <cp:lastPrinted>2019-08-06T13:15:09Z</cp:lastPrinted>
  <dcterms:created xsi:type="dcterms:W3CDTF">2020-03-27T22:15:06Z</dcterms:created>
  <dcterms:modified xsi:type="dcterms:W3CDTF">2026-05-29T13:01:32Z</dcterms:modified>
</cp:coreProperties>
</file>