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Montserrat" panose="00000500000000000000" pitchFamily="2" charset="-52"/>
      <p:regular r:id="rId15"/>
      <p:bold r:id="rId16"/>
      <p:italic r:id="rId17"/>
      <p:boldItalic r:id="rId18"/>
    </p:embeddedFont>
    <p:embeddedFont>
      <p:font typeface="Montserrat SemiBold" panose="00000700000000000000" pitchFamily="2" charset="-52"/>
      <p:regular r:id="rId19"/>
      <p:bold r:id="rId20"/>
      <p:italic r:id="rId21"/>
      <p:boldItalic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  <p:embeddedFont>
      <p:font typeface="Roboto SemiBold" panose="020B0604020202020204" charset="0"/>
      <p:regular r:id="rId27"/>
      <p:bold r:id="rId28"/>
      <p:italic r:id="rId29"/>
      <p:boldItalic r:id="rId30"/>
    </p:embeddedFont>
    <p:embeddedFont>
      <p:font typeface="Times" panose="02020603050405020304" pitchFamily="18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72F44E9-1FA9-493F-AFDA-077A098FD5F4}">
  <a:tblStyle styleId="{572F44E9-1FA9-493F-AFDA-077A098FD5F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2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47875" y="3700313"/>
            <a:ext cx="8096250" cy="11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721596" y="2033736"/>
            <a:ext cx="4748700" cy="243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6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94A3B8"/>
                </a:solidFill>
                <a:latin typeface="Times"/>
                <a:ea typeface="Times"/>
                <a:cs typeface="Times"/>
                <a:sym typeface="Times"/>
              </a:rPr>
              <a:t>МИНИСТЕРСТВО ОБРАЗОВАНИЯ И НАУКИ РЕСПУБЛИКИ ДАГЕСТАН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825" b="0" i="0" u="none" strike="noStrike" cap="none" dirty="0">
                <a:solidFill>
                  <a:srgbClr val="94A3B8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endParaRPr lang="ru-RU" sz="825" b="0" i="0" u="none" strike="noStrike" cap="none" dirty="0">
              <a:solidFill>
                <a:srgbClr val="94A3B8"/>
              </a:solidFill>
              <a:latin typeface="Times"/>
              <a:ea typeface="Times"/>
              <a:cs typeface="Times"/>
              <a:sym typeface="Times"/>
            </a:endParaRPr>
          </a:p>
          <a:p>
            <a:pPr marL="0" marR="0" lvl="0" indent="0" algn="ctr" rtl="0">
              <a:lnSpc>
                <a:spcPct val="641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 b="0" i="0" u="none" strike="noStrike" cap="none" dirty="0">
                <a:solidFill>
                  <a:srgbClr val="94A3B8"/>
                </a:solidFill>
                <a:latin typeface="Times"/>
                <a:ea typeface="Times"/>
                <a:cs typeface="Times"/>
                <a:sym typeface="Times"/>
              </a:rPr>
              <a:t>ЧПОУ «РЕСПУБЛИКАНСКИЙ ПОЛИПРОФЕССИОНАЛЬНЫЙ КОЛЛЕДЖ»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4170759" y="2565052"/>
            <a:ext cx="3850481" cy="420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ОТЧЕТ О ПРАКТИКЕ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904529" y="3128813"/>
            <a:ext cx="6382940" cy="1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8BDF8"/>
                </a:solidFill>
                <a:latin typeface="Times"/>
                <a:ea typeface="Times"/>
                <a:cs typeface="Times"/>
                <a:sym typeface="Times"/>
              </a:rPr>
              <a:t>ПМ.01 Разработка программных модулей программного обеспечения компьютерных систем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047875" y="3995588"/>
            <a:ext cx="3857625" cy="20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Обучающийся: </a:t>
            </a:r>
            <a:r>
              <a:rPr lang="en-US" sz="1087" b="0" i="0" u="none" strike="noStrike" cap="none">
                <a:solidFill>
                  <a:srgbClr val="38BDF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Акбиев В. Р.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047875" y="4202757"/>
            <a:ext cx="3857625" cy="20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Группа: </a:t>
            </a:r>
            <a:r>
              <a:rPr lang="en-US" sz="1087" b="0" i="0" u="none" strike="noStrike" cap="none">
                <a:solidFill>
                  <a:srgbClr val="38BDF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И-СП-24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2047875" y="4409926"/>
            <a:ext cx="3857625" cy="414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Специальность: </a:t>
            </a:r>
            <a:r>
              <a:rPr lang="en-US" sz="1087" b="0" i="0" u="none" strike="noStrike" cap="none">
                <a:solidFill>
                  <a:srgbClr val="38BDF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09.02.07 Информ. системы и программирование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286500" y="3995588"/>
            <a:ext cx="3857625" cy="20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База практики: </a:t>
            </a:r>
            <a:r>
              <a:rPr lang="en-US" sz="1087" b="0" i="0" u="none" strike="noStrike" cap="none">
                <a:solidFill>
                  <a:srgbClr val="38BDF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АО «Концерн КЭМЗ»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286500" y="4202757"/>
            <a:ext cx="3857625" cy="20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Срок проведения: </a:t>
            </a:r>
            <a:r>
              <a:rPr lang="en-US" sz="1087" b="0" i="0" u="none" strike="noStrike" cap="none">
                <a:solidFill>
                  <a:srgbClr val="38BDF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18.05.2026 – 30.05.2026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286500" y="4409926"/>
            <a:ext cx="3857625" cy="207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4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87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Руководитель: </a:t>
            </a:r>
            <a:r>
              <a:rPr lang="en-US" sz="1087" b="0" i="0" u="none" strike="noStrike" cap="none">
                <a:solidFill>
                  <a:srgbClr val="38BDF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Магомедова М. Н.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619250" y="2541240"/>
            <a:ext cx="9239250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Освоение профессионального модуля ПМ.01:</a:t>
            </a:r>
            <a:r>
              <a:rPr lang="en-US" sz="1162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Получение практического опыта объектно-ориентированного программирования и автоматизации учета на C# в Visual Studio.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619250" y="3136552"/>
            <a:ext cx="9239250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Создание системы учета деталей:</a:t>
            </a:r>
            <a:r>
              <a:rPr lang="en-US" sz="1162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Разработка надежного программного продукта, включающего библиотеку классов, пользовательский интерфейс и модуль хранения.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619250" y="3731865"/>
            <a:ext cx="9239250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Локальное хранение в JSON:</a:t>
            </a:r>
            <a:r>
              <a:rPr lang="en-US" sz="1162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Интеграция хранения данных в локальном JSON-файле с поддержкой CRUD, поиска, сортировки и контроля уникальности.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619250" y="4327177"/>
            <a:ext cx="9239250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Повышение прозрачности:</a:t>
            </a:r>
            <a:r>
              <a:rPr lang="en-US" sz="1162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Замена бумажных журналов на современное программное обеспечение для исключения задержек в снабжении предприятия.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57934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174652"/>
            <a:ext cx="1905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376996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3500" y="436527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866775" y="533400"/>
            <a:ext cx="11131391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ЦЕЛИ И ЗАДАЧИ ПРАКТИКИ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723900" y="533400"/>
            <a:ext cx="47625" cy="3199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63680" y="1922115"/>
            <a:ext cx="4404419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009650" y="2724596"/>
            <a:ext cx="567303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Нормы СанПиН 1.2.3685-21: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Площадь рабочего места ПЭВМ не менее 4,5 м², расстояние до экрана 60–70 см, освещенность 300–500 люкс.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09650" y="3324671"/>
            <a:ext cx="567303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Режим труда: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Ограничение непрерывной работы 2 часами. Внедрение перерывов по 5–10 минут после каждого часа для снижения зрительного утомления.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009650" y="3924746"/>
            <a:ext cx="567303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Меры пожаробезопасности: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Регулируется инструкцией ИПБ-022. Использование ИБП для защиты оборудования и тушение углекислотными огнетушителями (ОУ-2/5).</a:t>
            </a:r>
            <a:endParaRPr/>
          </a:p>
        </p:txBody>
      </p:sp>
      <p:pic>
        <p:nvPicPr>
          <p:cNvPr id="119" name="Google Shape;11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82730" y="1941165"/>
            <a:ext cx="4366319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866775" y="533400"/>
            <a:ext cx="11131391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ОХРАНА ТРУДА ПО САНПИН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723900" y="533400"/>
            <a:ext cx="47625" cy="3199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2743646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3343721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3943796"/>
            <a:ext cx="11430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23900" y="581025"/>
            <a:ext cx="504063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БАЗА ПРАКТИКИ: КОНЦЕРН КЭМЗ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581025" y="581025"/>
            <a:ext cx="47625" cy="639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65143" y="1159668"/>
            <a:ext cx="4557712" cy="455771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581025" y="2825055"/>
            <a:ext cx="4943475" cy="66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АО «Концерн КЭМЗ» (Кизляр):</a:t>
            </a:r>
            <a:r>
              <a:rPr lang="en-US" sz="1162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Стратегическое предприятие оборонно-промышленного комплекса, производящее авиационное оборудование, наземную технику и авиаузлы.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81025" y="3632299"/>
            <a:ext cx="4943475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0" i="0" u="none" strike="noStrike" cap="non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Объект автоматизации:</a:t>
            </a:r>
            <a:r>
              <a:rPr lang="en-US" sz="1162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Отдел материально-технического снабжения и учёта деталей авиационной техники.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81025" y="4218086"/>
            <a:ext cx="4943475" cy="66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62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Проблема:</a:t>
            </a:r>
            <a:r>
              <a:rPr lang="en-US" sz="1162" b="0" i="0" u="none" strike="noStrike" cap="none">
                <a:solidFill>
                  <a:srgbClr val="38BDF8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Ручное ведение учета в Excel приводило к дублированию серийных номеров деталей и затрудняло оперативную приёмку и списание.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2557908"/>
            <a:ext cx="10744200" cy="23479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3" name="Google Shape;143;p17"/>
          <p:cNvGraphicFramePr/>
          <p:nvPr/>
        </p:nvGraphicFramePr>
        <p:xfrm>
          <a:off x="723900" y="2557908"/>
          <a:ext cx="10744200" cy="2347950"/>
        </p:xfrm>
        <a:graphic>
          <a:graphicData uri="http://schemas.openxmlformats.org/drawingml/2006/table">
            <a:tbl>
              <a:tblPr firstRow="1" bandRow="1">
                <a:noFill/>
                <a:tableStyleId>{572F44E9-1FA9-493F-AFDA-077A098FD5F4}</a:tableStyleId>
              </a:tblPr>
              <a:tblGrid>
                <a:gridCol w="210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5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1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Категория средств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Используемые инструменты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Назначение в разрабатываемом проекте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Аппаратное обеспечение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Рабочая станция ПЭВМ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Intel Core i5, 8 ГБ ОЗУ, SSD 256 ГБ. Наличие заземления и ИБП.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Операционная система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Microsoft Windows 10 Pro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Стабильная операционная среда для выполнения приложений .NET 6.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Среда разработки (IDE)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Visual Studio 2022 Community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Редактор кода, построитель форм Windows Forms, компиляция и пошаговая отладка.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Библиотека сериализации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Newtonsoft.Json (NuGet)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Быстрая и надежная сериализация коллекций объектов в файл JSON.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База данных (Локальная)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Файл parts.json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Легковесное структурированное текстовое хранилище без утяжеления СУБД.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4" name="Google Shape;144;p17"/>
          <p:cNvSpPr/>
          <p:nvPr/>
        </p:nvSpPr>
        <p:spPr>
          <a:xfrm>
            <a:off x="723900" y="3319908"/>
            <a:ext cx="210204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2825948" y="3319908"/>
            <a:ext cx="252665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352603" y="3319908"/>
            <a:ext cx="61154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723900" y="3712815"/>
            <a:ext cx="210204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2825948" y="3712815"/>
            <a:ext cx="252665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352603" y="3712815"/>
            <a:ext cx="61154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723900" y="4105721"/>
            <a:ext cx="210204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2825948" y="4105721"/>
            <a:ext cx="252665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352603" y="4105721"/>
            <a:ext cx="61154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723900" y="4498627"/>
            <a:ext cx="210204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2825948" y="4498627"/>
            <a:ext cx="252665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352603" y="4498627"/>
            <a:ext cx="61154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23900" y="4891533"/>
            <a:ext cx="210204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2825948" y="4891533"/>
            <a:ext cx="252665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5352603" y="4891533"/>
            <a:ext cx="61154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866775" y="533400"/>
            <a:ext cx="11131391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ТЕХНИЧЕСКОЕ И ПРОГРАММНОЕ ПО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723900" y="533400"/>
            <a:ext cx="47625" cy="3199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2722364"/>
            <a:ext cx="5229225" cy="2018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38875" y="2829073"/>
            <a:ext cx="5229225" cy="180558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1019175" y="3017639"/>
            <a:ext cx="487060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Текущее состояние процесса (AS-IS)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1019175" y="3379589"/>
            <a:ext cx="4638675" cy="1066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Ручное занесение сведений в разрозненные файлы Excel.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• Отсутствие контроля уникальности серийных номеров авиадеталей.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• Сложный и долгий поиск по архивам документов.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• Трудности с отслеживанием статуса установки деталей на борт самолета.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6534150" y="3124348"/>
            <a:ext cx="4870608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Проектируемое состояние (TO-BE)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6534150" y="3486298"/>
            <a:ext cx="4638675" cy="853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• Интерактивная таблица DataGridView UI для оператора.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• Автоматическая валидация полей и блокировка дублей на C#.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• Быстрый регистронезависимый поиск и фильтрация «на лету».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050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• Мгновенное автосохранение изменений в локальный файл JSON.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66775" y="533400"/>
            <a:ext cx="11131391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АНАЛИЗ ТРЕБОВАНИЙ К МОДУЛЮ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723900" y="533400"/>
            <a:ext cx="47625" cy="3199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2625774"/>
            <a:ext cx="3422600" cy="221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4625" y="2625774"/>
            <a:ext cx="3422600" cy="22121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45350" y="2625774"/>
            <a:ext cx="3422600" cy="2212181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 txBox="1"/>
          <p:nvPr/>
        </p:nvSpPr>
        <p:spPr>
          <a:xfrm>
            <a:off x="898367" y="3473499"/>
            <a:ext cx="307366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Класс Part (Деталь)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971550" y="3797349"/>
            <a:ext cx="2927300" cy="745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Определяет атрибуты детали: Id, Name, уникальный номер PartNumber, Type (перечисление), дату, статус и AircraftId (борт самолета).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4559092" y="3473499"/>
            <a:ext cx="307366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Репозиторий JSON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4632275" y="3797349"/>
            <a:ext cx="2927300" cy="558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Интерфейс IPartRepository и реализация JsonPartRepository выполняют чтение и запись сведений в файл `parts.json`.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8219818" y="3473499"/>
            <a:ext cx="307366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Контроль целостности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293000" y="3797349"/>
            <a:ext cx="2927300" cy="745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12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Автоматическая сериализация в JSON при вызове Add, Update, Delete. Программная валидация уникальности полей во избежание дублей.</a:t>
            </a:r>
            <a:endParaRPr/>
          </a:p>
        </p:txBody>
      </p:sp>
      <p:pic>
        <p:nvPicPr>
          <p:cNvPr id="188" name="Google Shape;18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73200" y="2930574"/>
            <a:ext cx="3238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72026" y="2930574"/>
            <a:ext cx="2476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94651" y="2930574"/>
            <a:ext cx="323850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866775" y="533400"/>
            <a:ext cx="11131391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СТРУКТУРА ДАННЫХ И JSON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723900" y="533400"/>
            <a:ext cx="47625" cy="3199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2361455"/>
            <a:ext cx="10744200" cy="274081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9" name="Google Shape;199;p20"/>
          <p:cNvGraphicFramePr/>
          <p:nvPr/>
        </p:nvGraphicFramePr>
        <p:xfrm>
          <a:off x="723900" y="2361455"/>
          <a:ext cx="10744200" cy="2740850"/>
        </p:xfrm>
        <a:graphic>
          <a:graphicData uri="http://schemas.openxmlformats.org/drawingml/2006/table">
            <a:tbl>
              <a:tblPr firstRow="1" bandRow="1">
                <a:noFill/>
                <a:tableStyleId>{572F44E9-1FA9-493F-AFDA-077A098FD5F4}</a:tableStyleId>
              </a:tblPr>
              <a:tblGrid>
                <a:gridCol w="218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6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Наименование поля ввода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Тип данных в C#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Обязательность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Бизнес-правила и ограничения валидации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Наименование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строка (string)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Длина от 1 до 100 символов. Обязательно к заполнению.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Номер детали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строка (string)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Строго уникальный серийный номер, длина от 1 до 30 символов.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Тип детали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выпадающий список (enum)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Выбор из категорий: Фюзеляж, Крыло, Двигатель, Шасси, Авионика, Другое.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Дата изготовления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дата (DateTime)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Не может быть больше текущей даты (проверка календаря).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Статус детали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выпадающий список (enum)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Варианты: На складе / Установлена / Списана.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1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Борт самолета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строка (string)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Условно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Обязателен для ввода только при выборе статуса «Установлена».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0" name="Google Shape;200;p20"/>
          <p:cNvSpPr/>
          <p:nvPr/>
        </p:nvSpPr>
        <p:spPr>
          <a:xfrm>
            <a:off x="723900" y="3123455"/>
            <a:ext cx="21882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/>
          <p:nvPr/>
        </p:nvSpPr>
        <p:spPr>
          <a:xfrm>
            <a:off x="2912119" y="3123455"/>
            <a:ext cx="20502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0"/>
          <p:cNvSpPr/>
          <p:nvPr/>
        </p:nvSpPr>
        <p:spPr>
          <a:xfrm>
            <a:off x="4962376" y="3123455"/>
            <a:ext cx="14291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6391572" y="3123455"/>
            <a:ext cx="507652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/>
          <p:nvPr/>
        </p:nvSpPr>
        <p:spPr>
          <a:xfrm>
            <a:off x="723900" y="3516362"/>
            <a:ext cx="21882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0"/>
          <p:cNvSpPr/>
          <p:nvPr/>
        </p:nvSpPr>
        <p:spPr>
          <a:xfrm>
            <a:off x="2912119" y="3516362"/>
            <a:ext cx="20502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0"/>
          <p:cNvSpPr/>
          <p:nvPr/>
        </p:nvSpPr>
        <p:spPr>
          <a:xfrm>
            <a:off x="4962376" y="3516362"/>
            <a:ext cx="14291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6391572" y="3516362"/>
            <a:ext cx="507652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723900" y="3909268"/>
            <a:ext cx="21882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2912119" y="3909268"/>
            <a:ext cx="20502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4962376" y="3909268"/>
            <a:ext cx="14291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6391572" y="3909268"/>
            <a:ext cx="507652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723900" y="4302174"/>
            <a:ext cx="21882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2912119" y="4302174"/>
            <a:ext cx="20502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4962376" y="4302174"/>
            <a:ext cx="14291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6391572" y="4302174"/>
            <a:ext cx="507652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723900" y="4695080"/>
            <a:ext cx="21882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2912119" y="4695080"/>
            <a:ext cx="20502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4962376" y="4695080"/>
            <a:ext cx="14291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6391572" y="4695080"/>
            <a:ext cx="507652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723900" y="5087987"/>
            <a:ext cx="218821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2912119" y="5087987"/>
            <a:ext cx="205025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4962376" y="5087987"/>
            <a:ext cx="142919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6391572" y="5087987"/>
            <a:ext cx="507652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866775" y="533400"/>
            <a:ext cx="11131391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СПЕЦИФИКАЦИЯ ВХОДНЫХ ДАННЫХ</a:t>
            </a:r>
            <a:endParaRPr/>
          </a:p>
        </p:txBody>
      </p:sp>
      <p:sp>
        <p:nvSpPr>
          <p:cNvPr id="225" name="Google Shape;225;p20"/>
          <p:cNvSpPr/>
          <p:nvPr/>
        </p:nvSpPr>
        <p:spPr>
          <a:xfrm>
            <a:off x="723900" y="533400"/>
            <a:ext cx="47625" cy="3199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63680" y="1922115"/>
            <a:ext cx="4404419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1"/>
          <p:cNvSpPr txBox="1"/>
          <p:nvPr/>
        </p:nvSpPr>
        <p:spPr>
          <a:xfrm>
            <a:off x="1009650" y="2617440"/>
            <a:ext cx="567303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Решение AircraftPartsSolution: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Содержит библиотеку классов AircraftPartsLibrary и UI-приложение AircraftPartsManager.</a:t>
            </a:r>
            <a:endParaRPr/>
          </a:p>
        </p:txBody>
      </p:sp>
      <p:sp>
        <p:nvSpPr>
          <p:cNvPr id="233" name="Google Shape;233;p21"/>
          <p:cNvSpPr txBox="1"/>
          <p:nvPr/>
        </p:nvSpPr>
        <p:spPr>
          <a:xfrm>
            <a:off x="1009650" y="3217515"/>
            <a:ext cx="567303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ВалидацияBtnSave_Click():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Логика формы PartEditForm, блокирующая дублирование серийных номеров авиадеталей с помощью вызова GetByPartNumber().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1009650" y="4031902"/>
            <a:ext cx="5673030" cy="642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Пошаговая отладка: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Выполнялась с помощью точек останова (breakpoints) и трассировки кода (F10/F11) в Visual Studio для верификации записи в оперативную память.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866775" y="533400"/>
            <a:ext cx="11131391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ПРОГРАММИРОВАНИЕ МОДУЛЯ НА C#</a:t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723900" y="533400"/>
            <a:ext cx="47625" cy="3199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2636490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3236565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4050952"/>
            <a:ext cx="11430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00975" y="2298225"/>
            <a:ext cx="4329826" cy="2867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1979265"/>
            <a:ext cx="10744200" cy="35052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7" name="Google Shape;247;p22"/>
          <p:cNvGraphicFramePr/>
          <p:nvPr/>
        </p:nvGraphicFramePr>
        <p:xfrm>
          <a:off x="723900" y="1979265"/>
          <a:ext cx="10744150" cy="3505200"/>
        </p:xfrm>
        <a:graphic>
          <a:graphicData uri="http://schemas.openxmlformats.org/drawingml/2006/table">
            <a:tbl>
              <a:tblPr firstRow="1" bandRow="1">
                <a:noFill/>
                <a:tableStyleId>{572F44E9-1FA9-493F-AFDA-077A098FD5F4}</a:tableStyleId>
              </a:tblPr>
              <a:tblGrid>
                <a:gridCol w="79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4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1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ID Теста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Сценарий тестирования (Тест-кейс)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Ожидаемый результат проверки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Фактический результат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Статус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EA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TC-1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Добавление детали с корректными данными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Запись добавляется в DataGridView и parts.json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Успешно отображено и сохранено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34D3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Пройден</a:t>
                      </a:r>
                      <a:endParaRPr/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TC-2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Добавление с пустым наименованием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MessageBox выдает ошибку, сохранение отменено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Запись заблокирована валидатором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34D3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Пройден</a:t>
                      </a:r>
                      <a:endParaRPr/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TC-3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Ввод существующего уникального номера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Сообщение: «Деталь с таким номером уже существует»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Проверка уникальности отработала штатно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34D3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Пройден</a:t>
                      </a:r>
                      <a:endParaRPr/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TC-4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Поиск детали по серийному номеру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Таблица динамически фильтруется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Выведена только целевая деталь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34D3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Пройден</a:t>
                      </a:r>
                      <a:endParaRPr/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11A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TC-5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Установка фильтра «На складе»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Отображаются только детали с соответствующим статусом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0" i="0" u="none" strike="noStrike" cap="none">
                          <a:solidFill>
                            <a:srgbClr val="CBD5E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Остальные записи скрыты в DataGridView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12" b="1" i="0" u="none" strike="noStrike" cap="none">
                          <a:solidFill>
                            <a:srgbClr val="34D39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Пройден</a:t>
                      </a:r>
                      <a:endParaRPr/>
                    </a:p>
                  </a:txBody>
                  <a:tcPr marL="2286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D15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8" name="Google Shape;248;p22"/>
          <p:cNvSpPr/>
          <p:nvPr/>
        </p:nvSpPr>
        <p:spPr>
          <a:xfrm>
            <a:off x="723900" y="3127027"/>
            <a:ext cx="7925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1516409" y="3127027"/>
            <a:ext cx="276120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4277617" y="3127027"/>
            <a:ext cx="355446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7832080" y="3127027"/>
            <a:ext cx="270405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10536138" y="3127027"/>
            <a:ext cx="93196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723900" y="3712815"/>
            <a:ext cx="7925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1516409" y="3712815"/>
            <a:ext cx="276120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4277617" y="3712815"/>
            <a:ext cx="355446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7832080" y="3712815"/>
            <a:ext cx="270405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10536138" y="3712815"/>
            <a:ext cx="93196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723900" y="4298602"/>
            <a:ext cx="7925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1516409" y="4298602"/>
            <a:ext cx="276120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4277617" y="4298602"/>
            <a:ext cx="355446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7832080" y="4298602"/>
            <a:ext cx="270405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10536138" y="4298602"/>
            <a:ext cx="93196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723900" y="4884390"/>
            <a:ext cx="7925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1516409" y="4884390"/>
            <a:ext cx="276120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4277617" y="4884390"/>
            <a:ext cx="355446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7832080" y="4884390"/>
            <a:ext cx="270405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10536138" y="4884390"/>
            <a:ext cx="93196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723900" y="5470177"/>
            <a:ext cx="79250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1516409" y="5470177"/>
            <a:ext cx="276120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4277617" y="5470177"/>
            <a:ext cx="3554462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7832080" y="5470177"/>
            <a:ext cx="2704058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10536138" y="5470177"/>
            <a:ext cx="931961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9488" y="4446240"/>
            <a:ext cx="114300" cy="128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69488" y="2688877"/>
            <a:ext cx="114300" cy="128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9488" y="3274665"/>
            <a:ext cx="114300" cy="128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69488" y="3860452"/>
            <a:ext cx="114300" cy="128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69488" y="5032027"/>
            <a:ext cx="114300" cy="128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69488" y="2688877"/>
            <a:ext cx="114300" cy="128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9488" y="3274665"/>
            <a:ext cx="114300" cy="128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69488" y="3860452"/>
            <a:ext cx="114300" cy="128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9488" y="4446240"/>
            <a:ext cx="114300" cy="128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669488" y="5032027"/>
            <a:ext cx="114300" cy="128587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2"/>
          <p:cNvSpPr txBox="1"/>
          <p:nvPr/>
        </p:nvSpPr>
        <p:spPr>
          <a:xfrm>
            <a:off x="866775" y="533400"/>
            <a:ext cx="11131391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ФУНКЦИОНАЛЬНОЕ ТЕСТИРОВАНИЕ</a:t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723900" y="533400"/>
            <a:ext cx="47625" cy="3199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1139130"/>
            <a:ext cx="10744200" cy="518546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3"/>
          <p:cNvSpPr txBox="1"/>
          <p:nvPr/>
        </p:nvSpPr>
        <p:spPr>
          <a:xfrm>
            <a:off x="723900" y="4389090"/>
            <a:ext cx="107442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Замеры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производительности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проводились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с </a:t>
            </a: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помощью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системного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класса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System.Diagnostics.Stopwatch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При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количестве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в 1000 </a:t>
            </a: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записей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размер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базы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`</a:t>
            </a: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parts.json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` </a:t>
            </a: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составляет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~45 КБ, </a:t>
            </a: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что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доказывает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высокую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энергоэффективность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и </a:t>
            </a: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скорость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работы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локального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формата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50" b="0" i="1" u="none" strike="noStrike" cap="none" dirty="0" err="1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хранения</a:t>
            </a:r>
            <a:r>
              <a:rPr lang="en-US" sz="1050" b="0" i="1" u="none" strike="noStrike" cap="none" dirty="0">
                <a:solidFill>
                  <a:srgbClr val="94A3B8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dirty="0"/>
          </a:p>
        </p:txBody>
      </p:sp>
      <p:sp>
        <p:nvSpPr>
          <p:cNvPr id="292" name="Google Shape;292;p23"/>
          <p:cNvSpPr txBox="1"/>
          <p:nvPr/>
        </p:nvSpPr>
        <p:spPr>
          <a:xfrm>
            <a:off x="866775" y="533400"/>
            <a:ext cx="11131391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ЗАМЕРЫ ПРОИЗВОДИТЕЛЬНОСТИ</a:t>
            </a:r>
            <a:endParaRPr/>
          </a:p>
        </p:txBody>
      </p:sp>
      <p:sp>
        <p:nvSpPr>
          <p:cNvPr id="293" name="Google Shape;293;p23"/>
          <p:cNvSpPr/>
          <p:nvPr/>
        </p:nvSpPr>
        <p:spPr>
          <a:xfrm>
            <a:off x="723900" y="533400"/>
            <a:ext cx="47625" cy="31998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26390" y="3352041"/>
            <a:ext cx="5539220" cy="154932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4"/>
          <p:cNvSpPr txBox="1"/>
          <p:nvPr/>
        </p:nvSpPr>
        <p:spPr>
          <a:xfrm>
            <a:off x="3780710" y="2174081"/>
            <a:ext cx="4630578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внимание!</a:t>
            </a:r>
            <a:endParaRPr/>
          </a:p>
        </p:txBody>
      </p:sp>
      <p:sp>
        <p:nvSpPr>
          <p:cNvPr id="301" name="Google Shape;301;p24"/>
          <p:cNvSpPr txBox="1"/>
          <p:nvPr/>
        </p:nvSpPr>
        <p:spPr>
          <a:xfrm>
            <a:off x="3871912" y="2764631"/>
            <a:ext cx="44481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8BDF8"/>
                </a:solidFill>
                <a:latin typeface="Roboto"/>
                <a:ea typeface="Roboto"/>
                <a:cs typeface="Roboto"/>
                <a:sym typeface="Roboto"/>
              </a:rPr>
              <a:t>Доклад о результатах прохождения практики окончен.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4457700" y="3602831"/>
            <a:ext cx="3276600" cy="21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Выполнил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студент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группы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И-СП-24: 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Акбиев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В. Р.</a:t>
            </a:r>
            <a:endParaRPr dirty="0"/>
          </a:p>
        </p:txBody>
      </p:sp>
      <p:sp>
        <p:nvSpPr>
          <p:cNvPr id="303" name="Google Shape;303;p24"/>
          <p:cNvSpPr txBox="1"/>
          <p:nvPr/>
        </p:nvSpPr>
        <p:spPr>
          <a:xfrm>
            <a:off x="4491037" y="3912393"/>
            <a:ext cx="3209925" cy="259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 err="1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База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практики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АО «</a:t>
            </a:r>
            <a:r>
              <a:rPr lang="en-US" sz="1125" b="0" i="0" u="none" strike="noStrike" cap="none" dirty="0" err="1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Концерн</a:t>
            </a:r>
            <a:r>
              <a:rPr lang="en-US" sz="1125" b="0" i="0" u="none" strike="noStrike" cap="none" dirty="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 КЭМЗ»</a:t>
            </a:r>
            <a:r>
              <a:rPr lang="ru-RU" sz="1125" b="0" i="0" u="none" strike="noStrike" cap="none" dirty="0">
                <a:solidFill>
                  <a:srgbClr val="FFFFFF"/>
                </a:solidFill>
                <a:latin typeface="Roboto SemiBold"/>
                <a:ea typeface="Roboto SemiBold"/>
                <a:cs typeface="Roboto SemiBold"/>
                <a:sym typeface="Roboto SemiBold"/>
              </a:rPr>
              <a:t>.</a:t>
            </a:r>
            <a:endParaRPr dirty="0"/>
          </a:p>
        </p:txBody>
      </p:sp>
      <p:sp>
        <p:nvSpPr>
          <p:cNvPr id="304" name="Google Shape;304;p24"/>
          <p:cNvSpPr txBox="1"/>
          <p:nvPr/>
        </p:nvSpPr>
        <p:spPr>
          <a:xfrm>
            <a:off x="3798135" y="4196099"/>
            <a:ext cx="4595727" cy="260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30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Репозиторий</a:t>
            </a:r>
            <a:r>
              <a:rPr lang="en-US" sz="1130" b="0" i="0" u="none" strike="noStrike" cap="none" dirty="0">
                <a:solidFill>
                  <a:srgbClr val="CBD5E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n-US" sz="1130" b="1" i="1" u="sng" dirty="0">
                <a:solidFill>
                  <a:srgbClr val="0070C0"/>
                </a:solidFill>
              </a:rPr>
              <a:t>https://github.com/Vida-jiest/AircraftPartsManager.git</a:t>
            </a:r>
            <a:endParaRPr sz="11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939</Words>
  <Application>Microsoft Office PowerPoint</Application>
  <PresentationFormat>Широкоэкранный</PresentationFormat>
  <Paragraphs>125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Montserrat SemiBold</vt:lpstr>
      <vt:lpstr>Arial</vt:lpstr>
      <vt:lpstr>Calibri</vt:lpstr>
      <vt:lpstr>Roboto</vt:lpstr>
      <vt:lpstr>Roboto SemiBold</vt:lpstr>
      <vt:lpstr>Times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1111</dc:creator>
  <cp:lastModifiedBy>ВАЙДУЛЛА АКБИЕВ</cp:lastModifiedBy>
  <cp:revision>2</cp:revision>
  <dcterms:modified xsi:type="dcterms:W3CDTF">2026-06-01T22:05:05Z</dcterms:modified>
</cp:coreProperties>
</file>